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e3e7cdcc74dec" /><Relationship Type="http://schemas.openxmlformats.org/officeDocument/2006/relationships/extended-properties" Target="/docProps/app.xml" Id="Rbcd5486c13b34117" /><Relationship Type="http://schemas.openxmlformats.org/officeDocument/2006/relationships/officeDocument" Target="/ppt/presentation.xml" Id="R8a32f42a62b8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3d7d4e403498c"/>
  </p:sldMasterIdLst>
  <p:notesMasterIdLst>
    <p:notesMasterId xmlns:r="http://schemas.openxmlformats.org/officeDocument/2006/relationships" r:id="Re67d456b6548431b"/>
  </p:notesMasterIdLst>
  <p:sldIdLst>
    <p:sldId xmlns:r="http://schemas.openxmlformats.org/officeDocument/2006/relationships" id="256" r:id="Rd32331c1604a4cd9"/>
    <p:sldId xmlns:r="http://schemas.openxmlformats.org/officeDocument/2006/relationships" id="257" r:id="Rf95dbbf605b24b3e"/>
    <p:sldId xmlns:r="http://schemas.openxmlformats.org/officeDocument/2006/relationships" id="258" r:id="R4ebca4fa45074a4b"/>
    <p:sldId xmlns:r="http://schemas.openxmlformats.org/officeDocument/2006/relationships" id="259" r:id="Rb99603d099db4b48"/>
    <p:sldId xmlns:r="http://schemas.openxmlformats.org/officeDocument/2006/relationships" id="260" r:id="R04bd57672bbf493c"/>
    <p:sldId xmlns:r="http://schemas.openxmlformats.org/officeDocument/2006/relationships" id="261" r:id="R50b99cf3ba39435e"/>
    <p:sldId xmlns:r="http://schemas.openxmlformats.org/officeDocument/2006/relationships" id="262" r:id="R0c73bfba1a2f4c27"/>
    <p:sldId xmlns:r="http://schemas.openxmlformats.org/officeDocument/2006/relationships" id="263" r:id="R229a52851c7945d7"/>
    <p:sldId xmlns:r="http://schemas.openxmlformats.org/officeDocument/2006/relationships" id="264" r:id="Rb56702ea48384026"/>
    <p:sldId xmlns:r="http://schemas.openxmlformats.org/officeDocument/2006/relationships" id="265" r:id="Rb41a3c657b9f4625"/>
    <p:sldId xmlns:r="http://schemas.openxmlformats.org/officeDocument/2006/relationships" id="266" r:id="R74349d70fd954365"/>
    <p:sldId xmlns:r="http://schemas.openxmlformats.org/officeDocument/2006/relationships" id="267" r:id="R4e7753350aee47d6"/>
    <p:sldId xmlns:r="http://schemas.openxmlformats.org/officeDocument/2006/relationships" id="268" r:id="R1312503710de4aec"/>
    <p:sldId xmlns:r="http://schemas.openxmlformats.org/officeDocument/2006/relationships" id="269" r:id="R2912316012384915"/>
    <p:sldId xmlns:r="http://schemas.openxmlformats.org/officeDocument/2006/relationships" id="270" r:id="Rdf2c462811684b34"/>
    <p:sldId xmlns:r="http://schemas.openxmlformats.org/officeDocument/2006/relationships" id="271" r:id="Rc7e985aae5184e5f"/>
    <p:sldId xmlns:r="http://schemas.openxmlformats.org/officeDocument/2006/relationships" id="272" r:id="Rab28f2b99926476f"/>
    <p:sldId xmlns:r="http://schemas.openxmlformats.org/officeDocument/2006/relationships" id="273" r:id="R3061fbff49a446cc"/>
    <p:sldId xmlns:r="http://schemas.openxmlformats.org/officeDocument/2006/relationships" id="274" r:id="R562d76cb13544c38"/>
    <p:sldId xmlns:r="http://schemas.openxmlformats.org/officeDocument/2006/relationships" id="275" r:id="Rc89fbd1fc2aa4136"/>
    <p:sldId xmlns:r="http://schemas.openxmlformats.org/officeDocument/2006/relationships" id="276" r:id="R71054f550e4b4391"/>
    <p:sldId xmlns:r="http://schemas.openxmlformats.org/officeDocument/2006/relationships" id="277" r:id="Rce056f523e514fa4"/>
    <p:sldId xmlns:r="http://schemas.openxmlformats.org/officeDocument/2006/relationships" id="278" r:id="R435f8c3b360345a1"/>
    <p:sldId xmlns:r="http://schemas.openxmlformats.org/officeDocument/2006/relationships" id="279" r:id="R34e00f6e4b0e4a00"/>
    <p:sldId xmlns:r="http://schemas.openxmlformats.org/officeDocument/2006/relationships" id="280" r:id="R6f6474af9e0c4b84"/>
    <p:sldId xmlns:r="http://schemas.openxmlformats.org/officeDocument/2006/relationships" id="281" r:id="Rd8631f3285e64946"/>
    <p:sldId xmlns:r="http://schemas.openxmlformats.org/officeDocument/2006/relationships" id="282" r:id="Rbdaade4f76944b4c"/>
    <p:sldId xmlns:r="http://schemas.openxmlformats.org/officeDocument/2006/relationships" id="283" r:id="Rf6d862be74374e14"/>
    <p:sldId xmlns:r="http://schemas.openxmlformats.org/officeDocument/2006/relationships" id="284" r:id="R89ec955a8e5f421b"/>
    <p:sldId xmlns:r="http://schemas.openxmlformats.org/officeDocument/2006/relationships" id="285" r:id="R6ba05676cdc546d7"/>
    <p:sldId xmlns:r="http://schemas.openxmlformats.org/officeDocument/2006/relationships" id="286" r:id="Rf42b794648604564"/>
    <p:sldId xmlns:r="http://schemas.openxmlformats.org/officeDocument/2006/relationships" id="287" r:id="Ref2058a6b64740c7"/>
    <p:sldId xmlns:r="http://schemas.openxmlformats.org/officeDocument/2006/relationships" id="288" r:id="R2efac31d0585490a"/>
    <p:sldId xmlns:r="http://schemas.openxmlformats.org/officeDocument/2006/relationships" id="289" r:id="Rba7f640e2877465a"/>
    <p:sldId xmlns:r="http://schemas.openxmlformats.org/officeDocument/2006/relationships" id="290" r:id="R3917c20fdc5b43ee"/>
    <p:sldId xmlns:r="http://schemas.openxmlformats.org/officeDocument/2006/relationships" id="291" r:id="R8a9154626b7448eb"/>
    <p:sldId xmlns:r="http://schemas.openxmlformats.org/officeDocument/2006/relationships" id="292" r:id="Re182561659604816"/>
    <p:sldId xmlns:r="http://schemas.openxmlformats.org/officeDocument/2006/relationships" id="293" r:id="R7756c21f03ff46f0"/>
    <p:sldId xmlns:r="http://schemas.openxmlformats.org/officeDocument/2006/relationships" id="294" r:id="R9308356c8ee1474f"/>
    <p:sldId xmlns:r="http://schemas.openxmlformats.org/officeDocument/2006/relationships" id="295" r:id="Rdef3bb5e7c64415a"/>
    <p:sldId xmlns:r="http://schemas.openxmlformats.org/officeDocument/2006/relationships" id="296" r:id="Rd31a1c24b96d4b1c"/>
    <p:sldId xmlns:r="http://schemas.openxmlformats.org/officeDocument/2006/relationships" id="297" r:id="Rcf5bf0e0b4d444b6"/>
    <p:sldId xmlns:r="http://schemas.openxmlformats.org/officeDocument/2006/relationships" id="298" r:id="R9be91ecb205144fe"/>
    <p:sldId xmlns:r="http://schemas.openxmlformats.org/officeDocument/2006/relationships" id="299" r:id="R99c0c8b7dc474607"/>
    <p:sldId xmlns:r="http://schemas.openxmlformats.org/officeDocument/2006/relationships" id="300" r:id="R096563f729684c10"/>
    <p:sldId xmlns:r="http://schemas.openxmlformats.org/officeDocument/2006/relationships" id="301" r:id="Rbab4f9f75bef4db0"/>
    <p:sldId xmlns:r="http://schemas.openxmlformats.org/officeDocument/2006/relationships" id="302" r:id="R41c42c473749418d"/>
    <p:sldId xmlns:r="http://schemas.openxmlformats.org/officeDocument/2006/relationships" id="303" r:id="R66bba63a19f643e5"/>
    <p:sldId xmlns:r="http://schemas.openxmlformats.org/officeDocument/2006/relationships" id="304" r:id="R33ed5def8c8743bc"/>
    <p:sldId xmlns:r="http://schemas.openxmlformats.org/officeDocument/2006/relationships" id="305" r:id="Red1664203c304167"/>
    <p:sldId xmlns:r="http://schemas.openxmlformats.org/officeDocument/2006/relationships" id="306" r:id="R2d24227947674668"/>
    <p:sldId xmlns:r="http://schemas.openxmlformats.org/officeDocument/2006/relationships" id="307" r:id="R5eea321065194aee"/>
    <p:sldId xmlns:r="http://schemas.openxmlformats.org/officeDocument/2006/relationships" id="308" r:id="R61f8d754f4a040b7"/>
    <p:sldId xmlns:r="http://schemas.openxmlformats.org/officeDocument/2006/relationships" id="309" r:id="Re125b41e016f4a28"/>
    <p:sldId xmlns:r="http://schemas.openxmlformats.org/officeDocument/2006/relationships" id="310" r:id="R5eb511e9be414eb5"/>
    <p:sldId xmlns:r="http://schemas.openxmlformats.org/officeDocument/2006/relationships" id="311" r:id="R4d4185c0782e42fe"/>
    <p:sldId xmlns:r="http://schemas.openxmlformats.org/officeDocument/2006/relationships" id="312" r:id="Rb58a4699490a4740"/>
    <p:sldId xmlns:r="http://schemas.openxmlformats.org/officeDocument/2006/relationships" id="313" r:id="R49e62a0acc5e4cdc"/>
    <p:sldId xmlns:r="http://schemas.openxmlformats.org/officeDocument/2006/relationships" id="314" r:id="Raee6eb1b06714c7a"/>
    <p:sldId xmlns:r="http://schemas.openxmlformats.org/officeDocument/2006/relationships" id="315" r:id="R714685cacdde4892"/>
    <p:sldId xmlns:r="http://schemas.openxmlformats.org/officeDocument/2006/relationships" id="316" r:id="Ra4d034b84c7642c0"/>
    <p:sldId xmlns:r="http://schemas.openxmlformats.org/officeDocument/2006/relationships" id="317" r:id="R7adf51d5328a4730"/>
    <p:sldId xmlns:r="http://schemas.openxmlformats.org/officeDocument/2006/relationships" id="318" r:id="Ref07c91d611047fc"/>
    <p:sldId xmlns:r="http://schemas.openxmlformats.org/officeDocument/2006/relationships" id="319" r:id="Rb1419149c69a4870"/>
    <p:sldId xmlns:r="http://schemas.openxmlformats.org/officeDocument/2006/relationships" id="320" r:id="R3815bb3732204042"/>
    <p:sldId xmlns:r="http://schemas.openxmlformats.org/officeDocument/2006/relationships" id="321" r:id="R635bc7b5bf2448f6"/>
    <p:sldId xmlns:r="http://schemas.openxmlformats.org/officeDocument/2006/relationships" id="322" r:id="Rf014ff0115bb4cb6"/>
    <p:sldId xmlns:r="http://schemas.openxmlformats.org/officeDocument/2006/relationships" id="323" r:id="R44afa88065d947eb"/>
    <p:sldId xmlns:r="http://schemas.openxmlformats.org/officeDocument/2006/relationships" id="324" r:id="Rb2efd9e718df4019"/>
    <p:sldId xmlns:r="http://schemas.openxmlformats.org/officeDocument/2006/relationships" id="325" r:id="Re2efdbeb12c0402c"/>
    <p:sldId xmlns:r="http://schemas.openxmlformats.org/officeDocument/2006/relationships" id="326" r:id="R69cb1fd646ff47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7d792ab6ad485a" /><Relationship Type="http://schemas.openxmlformats.org/officeDocument/2006/relationships/slideMaster" Target="/ppt/slideMasters/slideMaster1.xml" Id="Ra363d7d4e403498c" /><Relationship Type="http://schemas.openxmlformats.org/officeDocument/2006/relationships/notesMaster" Target="/ppt/notesMasters/notesMaster1.xml" Id="Re67d456b6548431b" /><Relationship Type="http://schemas.openxmlformats.org/officeDocument/2006/relationships/presProps" Target="/ppt/presProps.xml" Id="R02871989279f4d47" /><Relationship Type="http://schemas.openxmlformats.org/officeDocument/2006/relationships/tableStyles" Target="/ppt/tableStyles.xml" Id="R93793752e2bf4e45" /><Relationship Type="http://schemas.openxmlformats.org/officeDocument/2006/relationships/slide" Target="/ppt/slides/slide1.xml" Id="Rd32331c1604a4cd9" /><Relationship Type="http://schemas.openxmlformats.org/officeDocument/2006/relationships/slide" Target="/ppt/slides/slide2.xml" Id="Rf95dbbf605b24b3e" /><Relationship Type="http://schemas.openxmlformats.org/officeDocument/2006/relationships/slide" Target="/ppt/slides/slide3.xml" Id="R4ebca4fa45074a4b" /><Relationship Type="http://schemas.openxmlformats.org/officeDocument/2006/relationships/slide" Target="/ppt/slides/slide4.xml" Id="Rb99603d099db4b48" /><Relationship Type="http://schemas.openxmlformats.org/officeDocument/2006/relationships/slide" Target="/ppt/slides/slide5.xml" Id="R04bd57672bbf493c" /><Relationship Type="http://schemas.openxmlformats.org/officeDocument/2006/relationships/slide" Target="/ppt/slides/slide6.xml" Id="R50b99cf3ba39435e" /><Relationship Type="http://schemas.openxmlformats.org/officeDocument/2006/relationships/slide" Target="/ppt/slides/slide7.xml" Id="R0c73bfba1a2f4c27" /><Relationship Type="http://schemas.openxmlformats.org/officeDocument/2006/relationships/slide" Target="/ppt/slides/slide8.xml" Id="R229a52851c7945d7" /><Relationship Type="http://schemas.openxmlformats.org/officeDocument/2006/relationships/slide" Target="/ppt/slides/slide9.xml" Id="Rb56702ea48384026" /><Relationship Type="http://schemas.openxmlformats.org/officeDocument/2006/relationships/slide" Target="/ppt/slides/slide10.xml" Id="Rb41a3c657b9f4625" /><Relationship Type="http://schemas.openxmlformats.org/officeDocument/2006/relationships/slide" Target="/ppt/slides/slide11.xml" Id="R74349d70fd954365" /><Relationship Type="http://schemas.openxmlformats.org/officeDocument/2006/relationships/slide" Target="/ppt/slides/slide12.xml" Id="R4e7753350aee47d6" /><Relationship Type="http://schemas.openxmlformats.org/officeDocument/2006/relationships/slide" Target="/ppt/slides/slide13.xml" Id="R1312503710de4aec" /><Relationship Type="http://schemas.openxmlformats.org/officeDocument/2006/relationships/slide" Target="/ppt/slides/slide14.xml" Id="R2912316012384915" /><Relationship Type="http://schemas.openxmlformats.org/officeDocument/2006/relationships/slide" Target="/ppt/slides/slide15.xml" Id="Rdf2c462811684b34" /><Relationship Type="http://schemas.openxmlformats.org/officeDocument/2006/relationships/slide" Target="/ppt/slides/slide16.xml" Id="Rc7e985aae5184e5f" /><Relationship Type="http://schemas.openxmlformats.org/officeDocument/2006/relationships/slide" Target="/ppt/slides/slide17.xml" Id="Rab28f2b99926476f" /><Relationship Type="http://schemas.openxmlformats.org/officeDocument/2006/relationships/slide" Target="/ppt/slides/slide18.xml" Id="R3061fbff49a446cc" /><Relationship Type="http://schemas.openxmlformats.org/officeDocument/2006/relationships/slide" Target="/ppt/slides/slide19.xml" Id="R562d76cb13544c38" /><Relationship Type="http://schemas.openxmlformats.org/officeDocument/2006/relationships/slide" Target="/ppt/slides/slide20.xml" Id="Rc89fbd1fc2aa4136" /><Relationship Type="http://schemas.openxmlformats.org/officeDocument/2006/relationships/slide" Target="/ppt/slides/slide21.xml" Id="R71054f550e4b4391" /><Relationship Type="http://schemas.openxmlformats.org/officeDocument/2006/relationships/slide" Target="/ppt/slides/slide22.xml" Id="Rce056f523e514fa4" /><Relationship Type="http://schemas.openxmlformats.org/officeDocument/2006/relationships/slide" Target="/ppt/slides/slide23.xml" Id="R435f8c3b360345a1" /><Relationship Type="http://schemas.openxmlformats.org/officeDocument/2006/relationships/slide" Target="/ppt/slides/slide24.xml" Id="R34e00f6e4b0e4a00" /><Relationship Type="http://schemas.openxmlformats.org/officeDocument/2006/relationships/slide" Target="/ppt/slides/slide25.xml" Id="R6f6474af9e0c4b84" /><Relationship Type="http://schemas.openxmlformats.org/officeDocument/2006/relationships/slide" Target="/ppt/slides/slide26.xml" Id="Rd8631f3285e64946" /><Relationship Type="http://schemas.openxmlformats.org/officeDocument/2006/relationships/slide" Target="/ppt/slides/slide27.xml" Id="Rbdaade4f76944b4c" /><Relationship Type="http://schemas.openxmlformats.org/officeDocument/2006/relationships/slide" Target="/ppt/slides/slide28.xml" Id="Rf6d862be74374e14" /><Relationship Type="http://schemas.openxmlformats.org/officeDocument/2006/relationships/slide" Target="/ppt/slides/slide29.xml" Id="R89ec955a8e5f421b" /><Relationship Type="http://schemas.openxmlformats.org/officeDocument/2006/relationships/slide" Target="/ppt/slides/slide30.xml" Id="R6ba05676cdc546d7" /><Relationship Type="http://schemas.openxmlformats.org/officeDocument/2006/relationships/slide" Target="/ppt/slides/slide31.xml" Id="Rf42b794648604564" /><Relationship Type="http://schemas.openxmlformats.org/officeDocument/2006/relationships/slide" Target="/ppt/slides/slide32.xml" Id="Ref2058a6b64740c7" /><Relationship Type="http://schemas.openxmlformats.org/officeDocument/2006/relationships/slide" Target="/ppt/slides/slide33.xml" Id="R2efac31d0585490a" /><Relationship Type="http://schemas.openxmlformats.org/officeDocument/2006/relationships/slide" Target="/ppt/slides/slide34.xml" Id="Rba7f640e2877465a" /><Relationship Type="http://schemas.openxmlformats.org/officeDocument/2006/relationships/slide" Target="/ppt/slides/slide35.xml" Id="R3917c20fdc5b43ee" /><Relationship Type="http://schemas.openxmlformats.org/officeDocument/2006/relationships/slide" Target="/ppt/slides/slide36.xml" Id="R8a9154626b7448eb" /><Relationship Type="http://schemas.openxmlformats.org/officeDocument/2006/relationships/slide" Target="/ppt/slides/slide37.xml" Id="Re182561659604816" /><Relationship Type="http://schemas.openxmlformats.org/officeDocument/2006/relationships/slide" Target="/ppt/slides/slide38.xml" Id="R7756c21f03ff46f0" /><Relationship Type="http://schemas.openxmlformats.org/officeDocument/2006/relationships/slide" Target="/ppt/slides/slide39.xml" Id="R9308356c8ee1474f" /><Relationship Type="http://schemas.openxmlformats.org/officeDocument/2006/relationships/slide" Target="/ppt/slides/slide40.xml" Id="Rdef3bb5e7c64415a" /><Relationship Type="http://schemas.openxmlformats.org/officeDocument/2006/relationships/slide" Target="/ppt/slides/slide41.xml" Id="Rd31a1c24b96d4b1c" /><Relationship Type="http://schemas.openxmlformats.org/officeDocument/2006/relationships/slide" Target="/ppt/slides/slide42.xml" Id="Rcf5bf0e0b4d444b6" /><Relationship Type="http://schemas.openxmlformats.org/officeDocument/2006/relationships/slide" Target="/ppt/slides/slide43.xml" Id="R9be91ecb205144fe" /><Relationship Type="http://schemas.openxmlformats.org/officeDocument/2006/relationships/slide" Target="/ppt/slides/slide44.xml" Id="R99c0c8b7dc474607" /><Relationship Type="http://schemas.openxmlformats.org/officeDocument/2006/relationships/slide" Target="/ppt/slides/slide45.xml" Id="R096563f729684c10" /><Relationship Type="http://schemas.openxmlformats.org/officeDocument/2006/relationships/slide" Target="/ppt/slides/slide46.xml" Id="Rbab4f9f75bef4db0" /><Relationship Type="http://schemas.openxmlformats.org/officeDocument/2006/relationships/slide" Target="/ppt/slides/slide47.xml" Id="R41c42c473749418d" /><Relationship Type="http://schemas.openxmlformats.org/officeDocument/2006/relationships/slide" Target="/ppt/slides/slide48.xml" Id="R66bba63a19f643e5" /><Relationship Type="http://schemas.openxmlformats.org/officeDocument/2006/relationships/slide" Target="/ppt/slides/slide49.xml" Id="R33ed5def8c8743bc" /><Relationship Type="http://schemas.openxmlformats.org/officeDocument/2006/relationships/slide" Target="/ppt/slides/slide50.xml" Id="Red1664203c304167" /><Relationship Type="http://schemas.openxmlformats.org/officeDocument/2006/relationships/slide" Target="/ppt/slides/slide51.xml" Id="R2d24227947674668" /><Relationship Type="http://schemas.openxmlformats.org/officeDocument/2006/relationships/slide" Target="/ppt/slides/slide52.xml" Id="R5eea321065194aee" /><Relationship Type="http://schemas.openxmlformats.org/officeDocument/2006/relationships/slide" Target="/ppt/slides/slide53.xml" Id="R61f8d754f4a040b7" /><Relationship Type="http://schemas.openxmlformats.org/officeDocument/2006/relationships/slide" Target="/ppt/slides/slide54.xml" Id="Re125b41e016f4a28" /><Relationship Type="http://schemas.openxmlformats.org/officeDocument/2006/relationships/slide" Target="/ppt/slides/slide55.xml" Id="R5eb511e9be414eb5" /><Relationship Type="http://schemas.openxmlformats.org/officeDocument/2006/relationships/slide" Target="/ppt/slides/slide56.xml" Id="R4d4185c0782e42fe" /><Relationship Type="http://schemas.openxmlformats.org/officeDocument/2006/relationships/slide" Target="/ppt/slides/slide57.xml" Id="Rb58a4699490a4740" /><Relationship Type="http://schemas.openxmlformats.org/officeDocument/2006/relationships/slide" Target="/ppt/slides/slide58.xml" Id="R49e62a0acc5e4cdc" /><Relationship Type="http://schemas.openxmlformats.org/officeDocument/2006/relationships/slide" Target="/ppt/slides/slide59.xml" Id="Raee6eb1b06714c7a" /><Relationship Type="http://schemas.openxmlformats.org/officeDocument/2006/relationships/slide" Target="/ppt/slides/slide60.xml" Id="R714685cacdde4892" /><Relationship Type="http://schemas.openxmlformats.org/officeDocument/2006/relationships/slide" Target="/ppt/slides/slide61.xml" Id="Ra4d034b84c7642c0" /><Relationship Type="http://schemas.openxmlformats.org/officeDocument/2006/relationships/slide" Target="/ppt/slides/slide62.xml" Id="R7adf51d5328a4730" /><Relationship Type="http://schemas.openxmlformats.org/officeDocument/2006/relationships/slide" Target="/ppt/slides/slide63.xml" Id="Ref07c91d611047fc" /><Relationship Type="http://schemas.openxmlformats.org/officeDocument/2006/relationships/slide" Target="/ppt/slides/slide64.xml" Id="Rb1419149c69a4870" /><Relationship Type="http://schemas.openxmlformats.org/officeDocument/2006/relationships/slide" Target="/ppt/slides/slide65.xml" Id="R3815bb3732204042" /><Relationship Type="http://schemas.openxmlformats.org/officeDocument/2006/relationships/slide" Target="/ppt/slides/slide66.xml" Id="R635bc7b5bf2448f6" /><Relationship Type="http://schemas.openxmlformats.org/officeDocument/2006/relationships/slide" Target="/ppt/slides/slide67.xml" Id="Rf014ff0115bb4cb6" /><Relationship Type="http://schemas.openxmlformats.org/officeDocument/2006/relationships/slide" Target="/ppt/slides/slide68.xml" Id="R44afa88065d947eb" /><Relationship Type="http://schemas.openxmlformats.org/officeDocument/2006/relationships/slide" Target="/ppt/slides/slide69.xml" Id="Rb2efd9e718df4019" /><Relationship Type="http://schemas.openxmlformats.org/officeDocument/2006/relationships/slide" Target="/ppt/slides/slide70.xml" Id="Re2efdbeb12c0402c" /><Relationship Type="http://schemas.openxmlformats.org/officeDocument/2006/relationships/slide" Target="/ppt/slides/slide71.xml" Id="R69cb1fd646ff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8048db2ce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d9ae3724347c3" /><Relationship Type="http://schemas.openxmlformats.org/officeDocument/2006/relationships/notesMaster" Target="/ppt/notesMasters/notesMaster1.xml" Id="R5f5c2da0f7a2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1a7d8946649e8" /><Relationship Type="http://schemas.openxmlformats.org/officeDocument/2006/relationships/notesMaster" Target="/ppt/notesMasters/notesMaster1.xml" Id="Rd23ee2dc6b35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61b852d434a22" /><Relationship Type="http://schemas.openxmlformats.org/officeDocument/2006/relationships/notesMaster" Target="/ppt/notesMasters/notesMaster1.xml" Id="Ra083569a308f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01d695fdac4f31" /><Relationship Type="http://schemas.openxmlformats.org/officeDocument/2006/relationships/notesMaster" Target="/ppt/notesMasters/notesMaster1.xml" Id="Rbf494275e78542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63ef47f9d4f10" /><Relationship Type="http://schemas.openxmlformats.org/officeDocument/2006/relationships/notesMaster" Target="/ppt/notesMasters/notesMaster1.xml" Id="R11e69c2ada454e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808e0506544f3" /><Relationship Type="http://schemas.openxmlformats.org/officeDocument/2006/relationships/notesMaster" Target="/ppt/notesMasters/notesMaster1.xml" Id="R72482a9a2fff41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5174a5ced74bac" /><Relationship Type="http://schemas.openxmlformats.org/officeDocument/2006/relationships/notesMaster" Target="/ppt/notesMasters/notesMaster1.xml" Id="R5b8e36b7748a4b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8cdd89dd0e405c" /><Relationship Type="http://schemas.openxmlformats.org/officeDocument/2006/relationships/notesMaster" Target="/ppt/notesMasters/notesMaster1.xml" Id="R718bdc5e53b546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38c7c3e63f444d" /><Relationship Type="http://schemas.openxmlformats.org/officeDocument/2006/relationships/notesMaster" Target="/ppt/notesMasters/notesMaster1.xml" Id="Reb4f490d1e294b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e3d595b5ce4056" /><Relationship Type="http://schemas.openxmlformats.org/officeDocument/2006/relationships/notesMaster" Target="/ppt/notesMasters/notesMaster1.xml" Id="R83110353db3e48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52cd33399448b2" /><Relationship Type="http://schemas.openxmlformats.org/officeDocument/2006/relationships/notesMaster" Target="/ppt/notesMasters/notesMaster1.xml" Id="R305641f3296946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6979fde1194761" /><Relationship Type="http://schemas.openxmlformats.org/officeDocument/2006/relationships/notesMaster" Target="/ppt/notesMasters/notesMaster1.xml" Id="Rb90ce6d00e0443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e836cf9bf2422b" /><Relationship Type="http://schemas.openxmlformats.org/officeDocument/2006/relationships/notesMaster" Target="/ppt/notesMasters/notesMaster1.xml" Id="R81e4409820ae40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4da5b607d444dc" /><Relationship Type="http://schemas.openxmlformats.org/officeDocument/2006/relationships/notesMaster" Target="/ppt/notesMasters/notesMaster1.xml" Id="R616dba8791a443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4d9cb9b65b4bd5" /><Relationship Type="http://schemas.openxmlformats.org/officeDocument/2006/relationships/notesMaster" Target="/ppt/notesMasters/notesMaster1.xml" Id="R5170a8abaa3a44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c6f09141b04802" /><Relationship Type="http://schemas.openxmlformats.org/officeDocument/2006/relationships/notesMaster" Target="/ppt/notesMasters/notesMaster1.xml" Id="R5fb9ba90df1f4d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63b68933e74632" /><Relationship Type="http://schemas.openxmlformats.org/officeDocument/2006/relationships/notesMaster" Target="/ppt/notesMasters/notesMaster1.xml" Id="Re283bd224e464d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bdbb147fa74210" /><Relationship Type="http://schemas.openxmlformats.org/officeDocument/2006/relationships/notesMaster" Target="/ppt/notesMasters/notesMaster1.xml" Id="Rb943c2fb55934b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50abb2f4af4f4b" /><Relationship Type="http://schemas.openxmlformats.org/officeDocument/2006/relationships/notesMaster" Target="/ppt/notesMasters/notesMaster1.xml" Id="Rf0202d45ca2a4c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d223292fb04a01" /><Relationship Type="http://schemas.openxmlformats.org/officeDocument/2006/relationships/notesMaster" Target="/ppt/notesMasters/notesMaster1.xml" Id="Rc2fb3f8ac8894b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79217df59c4528" /><Relationship Type="http://schemas.openxmlformats.org/officeDocument/2006/relationships/notesMaster" Target="/ppt/notesMasters/notesMaster1.xml" Id="R7bac9a81334743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b99245530242a1" /><Relationship Type="http://schemas.openxmlformats.org/officeDocument/2006/relationships/notesMaster" Target="/ppt/notesMasters/notesMaster1.xml" Id="R43266b51fcb649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e7eb47d40b456c" /><Relationship Type="http://schemas.openxmlformats.org/officeDocument/2006/relationships/notesMaster" Target="/ppt/notesMasters/notesMaster1.xml" Id="Rbc95945dac1b45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c14e0b9c4f4375" /><Relationship Type="http://schemas.openxmlformats.org/officeDocument/2006/relationships/notesMaster" Target="/ppt/notesMasters/notesMaster1.xml" Id="Re2ea44387cc54e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f5d60230ba47e8" /><Relationship Type="http://schemas.openxmlformats.org/officeDocument/2006/relationships/notesMaster" Target="/ppt/notesMasters/notesMaster1.xml" Id="R407a1f77c28246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749c085386491d" /><Relationship Type="http://schemas.openxmlformats.org/officeDocument/2006/relationships/notesMaster" Target="/ppt/notesMasters/notesMaster1.xml" Id="R841ac0407e7849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4e7b1b00d94be7" /><Relationship Type="http://schemas.openxmlformats.org/officeDocument/2006/relationships/notesMaster" Target="/ppt/notesMasters/notesMaster1.xml" Id="R609343bc6677488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278277b9284bc5" /><Relationship Type="http://schemas.openxmlformats.org/officeDocument/2006/relationships/notesMaster" Target="/ppt/notesMasters/notesMaster1.xml" Id="R882a5d10a1b64b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4b1e4ed3574fc5" /><Relationship Type="http://schemas.openxmlformats.org/officeDocument/2006/relationships/notesMaster" Target="/ppt/notesMasters/notesMaster1.xml" Id="R4b98a0e4693148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8be321163343e6" /><Relationship Type="http://schemas.openxmlformats.org/officeDocument/2006/relationships/notesMaster" Target="/ppt/notesMasters/notesMaster1.xml" Id="Rf77ffb52a6744ab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452882005414d51" /><Relationship Type="http://schemas.openxmlformats.org/officeDocument/2006/relationships/notesMaster" Target="/ppt/notesMasters/notesMaster1.xml" Id="R17329aeac42d49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44a223fe3142af" /><Relationship Type="http://schemas.openxmlformats.org/officeDocument/2006/relationships/notesMaster" Target="/ppt/notesMasters/notesMaster1.xml" Id="Rd8ad3f92f895425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2e59c3aa9c54d44" /><Relationship Type="http://schemas.openxmlformats.org/officeDocument/2006/relationships/notesMaster" Target="/ppt/notesMasters/notesMaster1.xml" Id="R3fc7e080ecfb43a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94ff9116c164936" /><Relationship Type="http://schemas.openxmlformats.org/officeDocument/2006/relationships/notesMaster" Target="/ppt/notesMasters/notesMaster1.xml" Id="R2005cd73a57d436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fdcb7ab94c4466a" /><Relationship Type="http://schemas.openxmlformats.org/officeDocument/2006/relationships/notesMaster" Target="/ppt/notesMasters/notesMaster1.xml" Id="Red192d395fcd45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017918baed44b1" /><Relationship Type="http://schemas.openxmlformats.org/officeDocument/2006/relationships/notesMaster" Target="/ppt/notesMasters/notesMaster1.xml" Id="R1b2c59eb8f6445a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7c505548474c98" /><Relationship Type="http://schemas.openxmlformats.org/officeDocument/2006/relationships/notesMaster" Target="/ppt/notesMasters/notesMaster1.xml" Id="R53bae0d823e3456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50e236b461449b" /><Relationship Type="http://schemas.openxmlformats.org/officeDocument/2006/relationships/notesMaster" Target="/ppt/notesMasters/notesMaster1.xml" Id="R46f16862871c4d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81287560e04bb7" /><Relationship Type="http://schemas.openxmlformats.org/officeDocument/2006/relationships/notesMaster" Target="/ppt/notesMasters/notesMaster1.xml" Id="R3591e21a6d1d478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63a48fb8fd479a" /><Relationship Type="http://schemas.openxmlformats.org/officeDocument/2006/relationships/notesMaster" Target="/ppt/notesMasters/notesMaster1.xml" Id="Rfb1095ef262c48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07ffbfd8edd4244" /><Relationship Type="http://schemas.openxmlformats.org/officeDocument/2006/relationships/notesMaster" Target="/ppt/notesMasters/notesMaster1.xml" Id="R359096f5882c44e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4b33ff8dd4c4df6" /><Relationship Type="http://schemas.openxmlformats.org/officeDocument/2006/relationships/notesMaster" Target="/ppt/notesMasters/notesMaster1.xml" Id="Rc53a30a3bdfa4ac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b9c7bfded564673" /><Relationship Type="http://schemas.openxmlformats.org/officeDocument/2006/relationships/notesMaster" Target="/ppt/notesMasters/notesMaster1.xml" Id="R4e21e771a458489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e8e806b06434d55" /><Relationship Type="http://schemas.openxmlformats.org/officeDocument/2006/relationships/notesMaster" Target="/ppt/notesMasters/notesMaster1.xml" Id="R55ed87e1d0244e0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6d706022e104b5a" /><Relationship Type="http://schemas.openxmlformats.org/officeDocument/2006/relationships/notesMaster" Target="/ppt/notesMasters/notesMaster1.xml" Id="R9e25e3632273455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0754c6e499d49a4" /><Relationship Type="http://schemas.openxmlformats.org/officeDocument/2006/relationships/notesMaster" Target="/ppt/notesMasters/notesMaster1.xml" Id="R0f798ae2d86b455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18750fcfa9f4a40" /><Relationship Type="http://schemas.openxmlformats.org/officeDocument/2006/relationships/notesMaster" Target="/ppt/notesMasters/notesMaster1.xml" Id="R7810950ea9df44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2ef0ad7e9844efe" /><Relationship Type="http://schemas.openxmlformats.org/officeDocument/2006/relationships/notesMaster" Target="/ppt/notesMasters/notesMaster1.xml" Id="R1cfe10c032424f7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5fd5a4bc5244336" /><Relationship Type="http://schemas.openxmlformats.org/officeDocument/2006/relationships/notesMaster" Target="/ppt/notesMasters/notesMaster1.xml" Id="Rc11b83ab598c451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3afda3164734bbc" /><Relationship Type="http://schemas.openxmlformats.org/officeDocument/2006/relationships/notesMaster" Target="/ppt/notesMasters/notesMaster1.xml" Id="R7cdec616bf8f4ed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2c1565ba8a143e6" /><Relationship Type="http://schemas.openxmlformats.org/officeDocument/2006/relationships/notesMaster" Target="/ppt/notesMasters/notesMaster1.xml" Id="R6563de20024241e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1be96e7a0b24f7c" /><Relationship Type="http://schemas.openxmlformats.org/officeDocument/2006/relationships/notesMaster" Target="/ppt/notesMasters/notesMaster1.xml" Id="Rfb35c69dcd0b46c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16056ab14e74207" /><Relationship Type="http://schemas.openxmlformats.org/officeDocument/2006/relationships/notesMaster" Target="/ppt/notesMasters/notesMaster1.xml" Id="R4fe5dd44908f4b6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4aa3c00c58143f5" /><Relationship Type="http://schemas.openxmlformats.org/officeDocument/2006/relationships/notesMaster" Target="/ppt/notesMasters/notesMaster1.xml" Id="Rdefb94a4ad96450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145a84d93a04e73" /><Relationship Type="http://schemas.openxmlformats.org/officeDocument/2006/relationships/notesMaster" Target="/ppt/notesMasters/notesMaster1.xml" Id="R0f76499604e6442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3e06e9b55844663" /><Relationship Type="http://schemas.openxmlformats.org/officeDocument/2006/relationships/notesMaster" Target="/ppt/notesMasters/notesMaster1.xml" Id="Rd108e92c0c0e448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dfaf9f19c974f54" /><Relationship Type="http://schemas.openxmlformats.org/officeDocument/2006/relationships/notesMaster" Target="/ppt/notesMasters/notesMaster1.xml" Id="R1bef0bede2334b6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348d7f0065349ca" /><Relationship Type="http://schemas.openxmlformats.org/officeDocument/2006/relationships/notesMaster" Target="/ppt/notesMasters/notesMaster1.xml" Id="R9f467b9221d1424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a148ec14f9a4a2b" /><Relationship Type="http://schemas.openxmlformats.org/officeDocument/2006/relationships/notesMaster" Target="/ppt/notesMasters/notesMaster1.xml" Id="R36e2bd2c40f94b5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5bc2dbc18904cb3" /><Relationship Type="http://schemas.openxmlformats.org/officeDocument/2006/relationships/notesMaster" Target="/ppt/notesMasters/notesMaster1.xml" Id="Rc192204546e34f3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4fb509f47954968" /><Relationship Type="http://schemas.openxmlformats.org/officeDocument/2006/relationships/notesMaster" Target="/ppt/notesMasters/notesMaster1.xml" Id="R0b3255db9fe8467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f836436b5d64b42" /><Relationship Type="http://schemas.openxmlformats.org/officeDocument/2006/relationships/notesMaster" Target="/ppt/notesMasters/notesMaster1.xml" Id="Rff46cecfb7f14ab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26fa61e2c184a26" /><Relationship Type="http://schemas.openxmlformats.org/officeDocument/2006/relationships/notesMaster" Target="/ppt/notesMasters/notesMaster1.xml" Id="R2d344626db1548f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908cc9bc22846ce" /><Relationship Type="http://schemas.openxmlformats.org/officeDocument/2006/relationships/notesMaster" Target="/ppt/notesMasters/notesMaster1.xml" Id="Rcc9d1c5de4b4440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8bbbb89b80e4775" /><Relationship Type="http://schemas.openxmlformats.org/officeDocument/2006/relationships/notesMaster" Target="/ppt/notesMasters/notesMaster1.xml" Id="R5a9a72ae05584bf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e01a66751484180" /><Relationship Type="http://schemas.openxmlformats.org/officeDocument/2006/relationships/notesMaster" Target="/ppt/notesMasters/notesMaster1.xml" Id="Ra502072e997442b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24b530555544ae0" /><Relationship Type="http://schemas.openxmlformats.org/officeDocument/2006/relationships/notesMaster" Target="/ppt/notesMasters/notesMaster1.xml" Id="Reee66e96eb09443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f286c14ed8c49c5" /><Relationship Type="http://schemas.openxmlformats.org/officeDocument/2006/relationships/notesMaster" Target="/ppt/notesMasters/notesMaster1.xml" Id="Rd7802d7fcff04aa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a386106ad98454b" /><Relationship Type="http://schemas.openxmlformats.org/officeDocument/2006/relationships/notesMaster" Target="/ppt/notesMasters/notesMaster1.xml" Id="R5200b370a23a423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0bca3e0fb5840dd" /><Relationship Type="http://schemas.openxmlformats.org/officeDocument/2006/relationships/notesMaster" Target="/ppt/notesMasters/notesMaster1.xml" Id="Rc42df9ac4346422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e31ddef3c4b4366" /><Relationship Type="http://schemas.openxmlformats.org/officeDocument/2006/relationships/notesMaster" Target="/ppt/notesMasters/notesMaster1.xml" Id="Ra24475d95ee1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45초</a:t>
            </a:r>
          </a:p>
          <a:p xmlns:a="http://schemas.openxmlformats.org/drawingml/2006/main">
            <a:r>
              <a:t>진행: 기술 이름보다 참가자의 일에서 시작한다. 오늘은 코덱스를 잘 아는 사람이 되는 시간이 아니라, 한 가지 일을 편하게 부탁하고 함께 확인하는 방법을 배우는 시간이라고 안내한다.</a:t>
            </a:r>
          </a:p>
          <a:p xmlns:a="http://schemas.openxmlformats.org/drawingml/2006/main">
            <a:r>
              <a:t>전환: 오늘의 핵심 질문을 한 문장으로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현재 활동, 주요 이력, 공개 연락처 순서로 간략히 소개한다. 현재 활동은 현업과 부업으로 나누고, 이력은 직무·산업·기술 변화만 압축한다.</a:t>
            </a:r>
          </a:p>
          <a:p xmlns:a="http://schemas.openxmlformats.org/drawingml/2006/main">
            <a:r>
              <a:t>전환: 디지털교육 연구사업의 기획·수행·검토 과정으로 바로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Presenter-provided public contact details (profile website).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시간표를 낭독하지 않는다. ‘우리 일에서 시작해 한 가지 요청을 배우고, 실제 화면을 본 뒤 안전하게 적용한다’는 흐름만 설명한다.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세 항목을 빠르게 읽고 안심시킨다. 코딩이나 전문 용어를 몰라도 된다는 점을 먼저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https://learn.chatgpt.com/docs/prompting.md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손들기나 짧은 질문으로 공감을 얻는다. ‘여기서 한 가지만 줄어도 충분히 가치가 있다’고 연결한다.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조직도 명칭을 자세히 읽기보다 연구와 서비스가 연결된 구조만 짚는다. 그래서 코덱스도 보고서 한 편보다 이 연결을 돕는 방식이 적합하다고 설명한다.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https://www.kedi.re.kr/khome/main/intro/organization.do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https://www.kedi.re.kr/khome/mobile2/intro/listStaffForm.do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30초</a:t>
            </a:r>
          </a:p>
          <a:p xmlns:a="http://schemas.openxmlformats.org/drawingml/2006/main">
            <a:r>
              <a:t>진행: 각 사업의 공개 목적을 간단히 짚는다. 특히 건강·정신건강 맥락의 서비스를 다른 사업과 같은 규칙으로 묶지 않는 것이 중요하다고 강조한다.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https://www.kedi.re.kr/khome/mobile2/intro/listStaffForm.do</a:t>
            </a:r>
          </a:p>
          <a:p xmlns:a="http://schemas.openxmlformats.org/drawingml/2006/main">
            <a:r>
              <a:t>- https://www.kedi.re.kr/khome/main/announce/selectNoticeAnnounceForm.do?article_sq_no=36334&amp;board_sq_no=1&amp;selectTp=0</a:t>
            </a:r>
          </a:p>
          <a:p xmlns:a="http://schemas.openxmlformats.org/drawingml/2006/main">
            <a:r>
              <a:t>- https://www.kedi.re.kr/khome/main/announce/selectNoticeAnnounceForm.do?article_sq_no=36342&amp;board_sq_no=1&amp;selectTp=0</a:t>
            </a:r>
          </a:p>
          <a:p xmlns:a="http://schemas.openxmlformats.org/drawingml/2006/main">
            <a:r>
              <a:t>- https://www.kedi.re.kr/khome/main/announce/selectBroadAnnounceForm.do?article_sq_no=35834&amp;board_sq_no=3&amp;selectTp=0</a:t>
            </a:r>
          </a:p>
          <a:p xmlns:a="http://schemas.openxmlformats.org/drawingml/2006/main">
            <a:r>
              <a:t>- https://www.kedi.re.kr/khome/main/announce/selectNoticeAnnounceForm.do?article_sq_no=36333&amp;board_sq_no=1&amp;selectTp=0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40초</a:t>
            </a:r>
          </a:p>
          <a:p xmlns:a="http://schemas.openxmlformats.org/drawingml/2006/main">
            <a:r>
              <a:t>진행: 이 장표가 강의의 중심이다. 그대로 천천히 읽고, 연구·콘텐츠·운영·시스템 어느 업무에도 적용할 수 있음을 짧은 예로 설명한다.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https://www.kedi.re.kr/khome/mobile2/intro/listStaffForm.do</a:t>
            </a:r>
          </a:p>
          <a:p xmlns:a="http://schemas.openxmlformats.org/drawingml/2006/main">
            <a:r>
              <a:t>- https://learn.chatgpt.com/docs/prompting.md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코덱스가 모든 단계를 결정하는 그림이 아님을 강조한다. 네 번째 단계에서 사람이 반드시 들어온다.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https://learn.chatgpt.com/docs/prompting.md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불안감을 키우는 경고가 아니라 역할을 명확히 나누는 안심의 메시지로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https://www.unesco.org/en/articles/guidance-generative-ai-education-and-research?hub=67098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25초</a:t>
            </a:r>
          </a:p>
          <a:p xmlns:a="http://schemas.openxmlformats.org/drawingml/2006/main">
            <a:r>
              <a:t>진행: ‘현재 KEDI가 만드는 서비스’와 ‘다음으로 함께 실험할 수 있는 서비스’를 반드시 나눠 말한다. 공개 자료에서 대화형 학습 코치 운영은 확인하지 못했다고 밝힌다.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https://www.kedi.re.kr/khome/main/announce/selectNoticeAnnounceForm.do?article_sq_no=36334&amp;board_sq_no=1&amp;selectTp=0</a:t>
            </a:r>
          </a:p>
          <a:p xmlns:a="http://schemas.openxmlformats.org/drawingml/2006/main">
            <a:r>
              <a:t>- https://www.kedi.re.kr/khome/main/announce/selectNoticeAnnounceForm.do?article_sq_no=36342&amp;board_sq_no=1&amp;selectTp=0</a:t>
            </a:r>
          </a:p>
          <a:p xmlns:a="http://schemas.openxmlformats.org/drawingml/2006/main">
            <a:r>
              <a:t>- https://www.kedi.re.kr/khome/main/announce/selectBroadAnnounceForm.do?article_sq_no=36409&amp;board_sq_no=3&amp;selectTp=0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40초</a:t>
            </a:r>
          </a:p>
          <a:p xmlns:a="http://schemas.openxmlformats.org/drawingml/2006/main">
            <a:r>
              <a:t>진행: 기술 아이디어를 요구하지 않는다. 참가자가 평소 보고 싶었던 화면이나 문서를 떠올리게 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https://www.kedi.re.kr/khome/mobile2/intro/listStaffForm.do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https://vercel.com/docs/projects/deploy-from-cli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https://github.com/smilesjcha/research-agent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/Users/sungjae-cha/Documents/research-agent/AGENTS.md</a:t>
            </a:r>
          </a:p>
          <a:p xmlns:a="http://schemas.openxmlformats.org/drawingml/2006/main">
            <a:r>
              <a:t>-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/Users/sungjae-cha/Documents/research-agent/commands/00_start_session.md</a:t>
            </a:r>
          </a:p>
          <a:p xmlns:a="http://schemas.openxmlformats.org/drawingml/2006/main">
            <a:r>
              <a:t>- /Users/sungjae-cha/Documents/research-agent/commands/10_audit_citations.md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/Users/sungjae-cha/Documents/research-agent/policies/evidence_quality_rubric.md</a:t>
            </a:r>
          </a:p>
          <a:p xmlns:a="http://schemas.openxmlformats.org/drawingml/2006/main">
            <a:r>
              <a:t>- /Users/sungjae-cha/Documents/research-agent/policies/reference_ranking_policy.md</a:t>
            </a:r>
          </a:p>
          <a:p xmlns:a="http://schemas.openxmlformats.org/drawingml/2006/main">
            <a:r>
              <a:t>- /Users/sungjae-cha/Documents/research-agent/policies/manuscript_review_policy.md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/Users/sungjae-cha/Documents/research-agent/notebooks/01_search_papers.ipynb</a:t>
            </a:r>
          </a:p>
          <a:p xmlns:a="http://schemas.openxmlformats.org/drawingml/2006/main">
            <a:r>
              <a:t>- /Users/sungjae-cha/Documents/research-agent/notebooks/02_score_quality.ipynb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https://openai.com/index/harness-engineering/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영문 용어를 가르치기보다 네 가지 질문을 참가자의 말로 풀어준다.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https://learn.chatgpt.com/docs/prompting.md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우열 비교가 아니라 초보자를 위한 간단한 사용 구분이라고 밝힌다. 각 도구의 기능은 겹칠 수 있으며, 오늘은 코덱스의 폴더·실행·확인 흐름에 집중한다.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https://learn.chatgpt.com/docs/prompting.md</a:t>
            </a:r>
          </a:p>
          <a:p xmlns:a="http://schemas.openxmlformats.org/drawingml/2006/main">
            <a:r>
              <a:t>- https://learn.chatgpt.com/guides/best-practices.md</a:t>
            </a:r>
          </a:p>
          <a:p xmlns:a="http://schemas.openxmlformats.org/drawingml/2006/main">
            <a:r>
              <a:t>- /Users/sungjae-cha/Documents/research-agent/CLAUDE.md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https://learn.chatgpt.com/guides/best-practices.md</a:t>
            </a:r>
          </a:p>
          <a:p xmlns:a="http://schemas.openxmlformats.org/drawingml/2006/main">
            <a:r>
              <a:t>- /Users/sungjae-cha/Documents/research-agent/commands/02_search_literature.md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  <a:p xmlns:a="http://schemas.openxmlformats.org/drawingml/2006/main">
            <a:r>
              <a:t>- /Users/sungjae-cha/Documents/research-agent/policies/reference_ranking_policy.md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초보자가 가장 안심해야 할 장표다. 프롬프트 공식을 외우지 않아도 되고, 결과를 보며 수정하면 된다고 말한다.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/Users/sungjae-cha/Documents/research-agent/policies/manuscript_review_policy.md</a:t>
            </a:r>
          </a:p>
          <a:p xmlns:a="http://schemas.openxmlformats.org/drawingml/2006/main">
            <a:r>
              <a:t>- /Users/sungjae-cha/Documents/research-agent/commands/10_audit_citations.md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30초</a:t>
            </a:r>
          </a:p>
          <a:p xmlns:a="http://schemas.openxmlformats.org/drawingml/2006/main">
            <a:r>
              <a:t>진행: 네 후보를 기능 목록으로 읽지 않는다. 학생이 얻는 도움을 한 문장씩 설명하고, 첫 MVP는 4주 안에 학생 가치와 위험을 함께 확인할 수 있어야 한다고 연결한다.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https://www.kedi.re.kr/khome/main/announce/selectNoticeAnnounceForm.do?article_sq_no=36334&amp;board_sq_no=1&amp;selectTp=0</a:t>
            </a:r>
          </a:p>
          <a:p xmlns:a="http://schemas.openxmlformats.org/drawingml/2006/main">
            <a:r>
              <a:t>- https://www.kedi.re.kr/khome/main/announce/selectNoticeAnnounceForm.do?article_sq_no=36342&amp;board_sq_no=1&amp;selectTp=0</a:t>
            </a:r>
          </a:p>
          <a:p xmlns:a="http://schemas.openxmlformats.org/drawingml/2006/main">
            <a:r>
              <a:t>- https://www.kedi.re.kr/khome/main/announce/selectBroadAnnounceForm.do?article_sq_no=35834&amp;board_sq_no=3&amp;selectTp=0</a:t>
            </a:r>
          </a:p>
          <a:p xmlns:a="http://schemas.openxmlformats.org/drawingml/2006/main">
            <a:r>
              <a:t>- https://www.kedi.re.kr/khome/main/announce/selectNoticeAnnounceForm.do?article_sq_no=36333&amp;board_sq_no=1&amp;selectTp=0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점수는 성과 측정값이 아니라 토론을 위한 설계 판단이라고 명시한다. 조직에서는 항목 가중치를 다시 합의하면 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학생 사용 장면으로 설명한다. 오늘 20분 활동이 부담스러우면 5분으로 줄이고, 질문이 생기면 사람에게 보낼 문장을 만든 뒤 학생이 최종 확인한다.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  <a:p xmlns:a="http://schemas.openxmlformats.org/drawingml/2006/main">
            <a:r>
              <a:t>- /Users/sungjae-cha/Documents/research-agent/workspace/lecture_20260807/prototype/student.html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35초</a:t>
            </a:r>
          </a:p>
          <a:p xmlns:a="http://schemas.openxmlformats.org/drawingml/2006/main">
            <a:r>
              <a:t>진행: 현대적인 제품 업무의 핵심은 기능보다 문제·성과·비범위를 먼저 합의하는 것이라고 설명한다. 기능을 제안할 때 연결되는 문제와 지표를 함께 묻는다.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이제 문서의 문제·지표가 실제 화면의 어떤 행동으로 구현되는지 보여준다고 전환한다.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  <a:p xmlns:a="http://schemas.openxmlformats.org/drawingml/2006/main">
            <a:r>
              <a:t>- /Users/sungjae-cha/Documents/research-agent/workspace/lecture_20260807/prototype/student.html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15초</a:t>
            </a:r>
          </a:p>
          <a:p xmlns:a="http://schemas.openxmlformats.org/drawingml/2006/main">
            <a:r>
              <a:t>진행: 여정의 각 단계가 어떤 사용자 문제를 줄이는지 설명한다. 특히 도움 요청은 AI 답변으로 끝내지 않고 사람 연결로 끝난다는 점을 강조한다.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40초</a:t>
            </a:r>
          </a:p>
          <a:p xmlns:a="http://schemas.openxmlformats.org/drawingml/2006/main">
            <a:r>
              <a:t>진행: 브라우저에서 목표 라디오, 활동 완료, 자신감, 더 쉬운 설명, 도움 요청을 직접 눌러본다. AI를 연결하지 않아도 제품 가설의 대부분을 눈으로 확인할 수 있음을 보여준다.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/Users/sungjae-cha/Documents/research-agent/workspace/lecture_20260807/prototype/student.html</a:t>
            </a:r>
          </a:p>
          <a:p xmlns:a="http://schemas.openxmlformats.org/drawingml/2006/main">
            <a:r>
              <a:t>- /Users/sungjae-cha/Documents/research-agent/workspace/lecture_20260807/prototype/student.js</a:t>
            </a:r>
          </a:p>
          <a:p xmlns:a="http://schemas.openxmlformats.org/drawingml/2006/main">
            <a:r>
              <a:t>- /Users/sungjae-cha/Documents/research-agent/workspace/lecture_20260807/prototype/student.css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35초</a:t>
            </a:r>
          </a:p>
          <a:p xmlns:a="http://schemas.openxmlformats.org/drawingml/2006/main">
            <a:r>
              <a:t>진행: 중심 지표의 분모와 분자를 읽어준다. 학생 성적이 아니라 서비스가 학습 순환을 돕는지 보는 지표이며, 품질·안전 지표를 함께 통과해야 한다고 강조한다.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/Users/sungjae-cha/Documents/research-agent/notebooks/00_topic_scoping.ipynb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/Users/sungjae-cha/Documents/research-agent/data/topic_keywords.txt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/Users/sungjae-cha/Documents/research-agent/notebooks/01_search_papers.ipynb</a:t>
            </a:r>
          </a:p>
          <a:p xmlns:a="http://schemas.openxmlformats.org/drawingml/2006/main">
            <a:r>
              <a:t>- https://developers.openalex.org/api-reference/works/list-works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https://developers.openalex.org/api-reference/works</a:t>
            </a:r>
          </a:p>
          <a:p xmlns:a="http://schemas.openxmlformats.org/drawingml/2006/main">
            <a:r>
              <a:t>- /Users/sungjae-cha/Documents/research-agent/data/search_strategy.md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/Users/sungjae-cha/Documents/research-agent/notebooks/01_search_papers.ipynb</a:t>
            </a:r>
          </a:p>
          <a:p xmlns:a="http://schemas.openxmlformats.org/drawingml/2006/main">
            <a:r>
              <a:t>- /Users/sungjae-cha/Documents/research-agent/data/papers_raw.csv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  <a:p xmlns:a="http://schemas.openxmlformats.org/drawingml/2006/main">
            <a:r>
              <a:t>- /Users/sungjae-cha/Documents/research-agent/policies/reference_ranking_policy.md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/Users/sungjae-cha/Documents/research-agent/notebooks/02_score_quality.ipynb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/Users/sungjae-cha/Documents/research-agent/notebooks/02_score_quality.ipynb</a:t>
            </a:r>
          </a:p>
          <a:p xmlns:a="http://schemas.openxmlformats.org/drawingml/2006/main">
            <a:r>
              <a:t>- /Users/sungjae-cha/Documents/research-agent/data/papers_scored.csv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/Users/sungjae-cha/Documents/research-agent/notebooks/02_score_quality.ipynb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/Users/sungjae-cha/Documents/research-agent/notebooks/03_export_to_claude.ipynb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  <a:p xmlns:a="http://schemas.openxmlformats.org/drawingml/2006/main">
            <a:r>
              <a:t>- /Users/sungjae-cha/Documents/research-agent/policies/reference_ranking_policy.md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/Users/sungjae-cha/Documents/research-agent/README.md</a:t>
            </a:r>
          </a:p>
          <a:p xmlns:a="http://schemas.openxmlformats.org/drawingml/2006/main">
            <a:r>
              <a:t>- /Users/sungjae-cha/Documents/research-agent/references/README.md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/Users/sungjae-cha/Documents/research-agent/references/evidence/evidence_claims.template.csv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https://vercel.com/docs/projects/deploy-from-cli</a:t>
            </a:r>
          </a:p>
          <a:p xmlns:a="http://schemas.openxmlformats.org/drawingml/2006/main">
            <a:r>
              <a:t>- https://vercel.com/docs/environment-variables</a:t>
            </a:r>
          </a:p>
          <a:p xmlns:a="http://schemas.openxmlformats.org/drawingml/2006/main">
            <a:r>
              <a:t>- https://vercel.com/docs/functions</a:t>
            </a:r>
          </a:p>
          <a:p xmlns:a="http://schemas.openxmlformats.org/drawingml/2006/main">
            <a:r>
              <a:t>- /Users/sungjae-cha/Documents/research-agent/workspace/lecture_20260807/prototype/student.html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https://www.nist.gov/publications/artificial-intelligence-risk-management-framework-generative-artificial-intelligence</a:t>
            </a:r>
          </a:p>
          <a:p xmlns:a="http://schemas.openxmlformats.org/drawingml/2006/main">
            <a:r>
              <a:t>- https://www.unesco.org/en/articles/guidance-generative-ai-education-and-research?hub=67098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국제 지침 이름을 외우게 하지 않는다. 학생에게 영향을 주는 기술은 처음 한 번만 검사하는 것이 아니라 계속 확인해야 한다는 뜻만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https://www.unesco.org/en/articles/guidance-generative-ai-education-and-research?hub=67098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40초</a:t>
            </a:r>
          </a:p>
          <a:p xmlns:a="http://schemas.openxmlformats.org/drawingml/2006/main">
            <a:r>
              <a:t>진행: 법률 효력과 기관 내부 규정을 함께 확인해야 하며, 장표는 법률 자문이 아님을 설명한다.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https://pipc.go.kr/np/cop/bbs/selectBoardArticle.do?bbsId=BS217&amp;mCode=G010030020&amp;nttId=11439</a:t>
            </a:r>
          </a:p>
          <a:p xmlns:a="http://schemas.openxmlformats.org/drawingml/2006/main">
            <a:r>
              <a:t>- https://www.nia.or.kr/site/nia_kor/ex/bbs/View.do?bcIdx=29526&amp;cbIdx=37989</a:t>
            </a:r>
          </a:p>
          <a:p xmlns:a="http://schemas.openxmlformats.org/drawingml/2006/main">
            <a:r>
              <a:t>- https://www.law.go.kr/LSW/lsInfoP.do?lsiSeq=283735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55초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  <a:p xmlns:a="http://schemas.openxmlformats.org/drawingml/2006/main">
            <a:r>
              <a:t>- /Users/sungjae-cha/Documents/research-agent/AGENTS.md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https://www.nist.gov/publications/artificial-intelligence-risk-management-framework-generative-artificial-intelligence</a:t>
            </a:r>
          </a:p>
          <a:p xmlns:a="http://schemas.openxmlformats.org/drawingml/2006/main">
            <a:r>
              <a:t>- https://pipc.go.kr/np/cop/bbs/selectBoardArticle.do?bbsId=BS217&amp;mCode=G010030020&amp;nttId=11439</a:t>
            </a:r>
          </a:p>
          <a:p xmlns:a="http://schemas.openxmlformats.org/drawingml/2006/main">
            <a:r>
              <a:t>- /Users/sungjae-cha/Documents/research-agent/policies/storage_policy.md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10초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https://www.nist.gov/publications/artificial-intelligence-risk-management-framework-generative-artificial-intelligence</a:t>
            </a:r>
          </a:p>
          <a:p xmlns:a="http://schemas.openxmlformats.org/drawingml/2006/main">
            <a:r>
              <a:t>- https://learn.chatgpt.com/guides/best-practices.md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30초</a:t>
            </a:r>
          </a:p>
          <a:p xmlns:a="http://schemas.openxmlformats.org/drawingml/2006/main">
            <a:r>
              <a:t>진행: 전문 용어를 설명하기보다 참가자의 실제 업무 장면에 연결하고, 한 번에 한 가지 메시지만 전달한다.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 30초</a:t>
            </a:r>
          </a:p>
          <a:p xmlns:a="http://schemas.openxmlformats.org/drawingml/2006/main">
            <a:r>
              <a:t>진행: 기능 출시가 90일의 목표가 아니다. 문제·성과·안전 기준을 갖춘 작은 검증과 명시적인 다음 결정을 만드는 것이 목표라고 정리한다.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/Users/sungjae-cha/Documents/research-agent/workspace/lecture_20260807/STUDENT_SERVICE_MVP_PRD_KO.md</a:t>
            </a:r>
          </a:p>
          <a:p xmlns:a="http://schemas.openxmlformats.org/drawingml/2006/main">
            <a:r>
              <a:t>- https://github.com/smilesjcha/research-agent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1분 20초</a:t>
            </a:r>
          </a:p>
          <a:p xmlns:a="http://schemas.openxmlformats.org/drawingml/2006/main">
            <a:r>
              <a:t>진행: 영문 구호를 먼저 읽고 한국어로 풀어준다. 방향과 최종 책임은 사람에게 남고, 에이전트는 정한 범위에서 실행하며, 다음 결정은 로그·실험·평가 지표를 근거로 사람이 내린다는 구조를 강조한다.</a:t>
            </a:r>
          </a:p>
          <a:p xmlns:a="http://schemas.openxmlformats.org/drawingml/2006/main">
            <a:r>
              <a:t>전환: 다음 장표에서 이 내용을 연구 환경에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None (facilitation/original synthesis).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마무리 1분 + 질의응답 15분</a:t>
            </a:r>
          </a:p>
          <a:p xmlns:a="http://schemas.openxmlformats.org/drawingml/2006/main">
            <a:r>
              <a:t>진행: 참가자가 내일 부탁해볼 자료 한 가지를 떠올리게 한 뒤 질문을 받는다. 질문도 도구 이름보다 ‘어떤 결과가 필요한가’에서 시작해 답한다.</a:t>
            </a:r>
          </a:p>
          <a:p xmlns:a="http://schemas.openxmlformats.org/drawingml/2006/main">
            <a:r>
              <a:t>전환: 질문을 도구·연구방법·조직운영·윤리/법 네 범주로 묶어 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/Users/sungjae-cha/Documents/research-agent/policies/citation_grounding_policy.md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3ba07756f4e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60230708d4375" /><Relationship Type="http://schemas.openxmlformats.org/officeDocument/2006/relationships/slideLayout" Target="/ppt/slideLayouts/slideLayout1.xml" Id="R478292374479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292374479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235cede74bf0" /><Relationship Type="http://schemas.openxmlformats.org/officeDocument/2006/relationships/notesSlide" Target="/ppt/notesSlides/notesSlide1.xml" Id="Rf862d0e36e0946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6fddc27246c3" /><Relationship Type="http://schemas.openxmlformats.org/officeDocument/2006/relationships/notesSlide" Target="/ppt/notesSlides/notesSlide2.xml" Id="R93908f8945b8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a5684482949ae" /><Relationship Type="http://schemas.openxmlformats.org/officeDocument/2006/relationships/notesSlide" Target="/ppt/notesSlides/notesSlide3.xml" Id="Ref4162d7e10d43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b6524fd6e4b56" /><Relationship Type="http://schemas.openxmlformats.org/officeDocument/2006/relationships/notesSlide" Target="/ppt/notesSlides/notesSlide4.xml" Id="Rf619b9713569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cdd12d8f543ce" /><Relationship Type="http://schemas.openxmlformats.org/officeDocument/2006/relationships/notesSlide" Target="/ppt/notesSlides/notesSlide5.xml" Id="R247f015cee2e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d0313f2a84386" /><Relationship Type="http://schemas.openxmlformats.org/officeDocument/2006/relationships/notesSlide" Target="/ppt/notesSlides/notesSlide6.xml" Id="R593923dca92040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2e5f45ae40f9" /><Relationship Type="http://schemas.openxmlformats.org/officeDocument/2006/relationships/image" Target="/ppt/media/image.jpeg" Id="R429fee9d19684609" /><Relationship Type="http://schemas.openxmlformats.org/officeDocument/2006/relationships/notesSlide" Target="/ppt/notesSlides/notesSlide7.xml" Id="R074843b392a24c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ad66fc0d54b60" /><Relationship Type="http://schemas.openxmlformats.org/officeDocument/2006/relationships/notesSlide" Target="/ppt/notesSlides/notesSlide8.xml" Id="Re18fe05aeb1d4c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ebd3321294e32" /><Relationship Type="http://schemas.openxmlformats.org/officeDocument/2006/relationships/notesSlide" Target="/ppt/notesSlides/notesSlide9.xml" Id="R94550a221a5d42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49488ccac4e5a" /><Relationship Type="http://schemas.openxmlformats.org/officeDocument/2006/relationships/notesSlide" Target="/ppt/notesSlides/notesSlide10.xml" Id="Rd9684e2cc29f4c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8def616704297" /><Relationship Type="http://schemas.openxmlformats.org/officeDocument/2006/relationships/notesSlide" Target="/ppt/notesSlides/notesSlide11.xml" Id="R6a099b735afd40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664014ae0457e" /><Relationship Type="http://schemas.openxmlformats.org/officeDocument/2006/relationships/notesSlide" Target="/ppt/notesSlides/notesSlide12.xml" Id="R34a977800e2f4f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a28ecae640e3" /><Relationship Type="http://schemas.openxmlformats.org/officeDocument/2006/relationships/notesSlide" Target="/ppt/notesSlides/notesSlide13.xml" Id="R2020567c75e049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e51da4ecd466a" /><Relationship Type="http://schemas.openxmlformats.org/officeDocument/2006/relationships/notesSlide" Target="/ppt/notesSlides/notesSlide14.xml" Id="R839b5b5faa2341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e99f52e084006" /><Relationship Type="http://schemas.openxmlformats.org/officeDocument/2006/relationships/notesSlide" Target="/ppt/notesSlides/notesSlide15.xml" Id="R828d377f1ac043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34b7745649a4" /><Relationship Type="http://schemas.openxmlformats.org/officeDocument/2006/relationships/notesSlide" Target="/ppt/notesSlides/notesSlide16.xml" Id="R02d982039bbb42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8b0bd8f8a4d93" /><Relationship Type="http://schemas.openxmlformats.org/officeDocument/2006/relationships/notesSlide" Target="/ppt/notesSlides/notesSlide17.xml" Id="R78d5cef6c50c4a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3885ca124319" /><Relationship Type="http://schemas.openxmlformats.org/officeDocument/2006/relationships/notesSlide" Target="/ppt/notesSlides/notesSlide18.xml" Id="R43936fc479ab4e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83d4fc4154a92" /><Relationship Type="http://schemas.openxmlformats.org/officeDocument/2006/relationships/image" Target="/ppt/media/image2.jpeg" Id="R04e77f6083d44000" /><Relationship Type="http://schemas.openxmlformats.org/officeDocument/2006/relationships/notesSlide" Target="/ppt/notesSlides/notesSlide19.xml" Id="R7cab56bbcca14b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f29013834669" /><Relationship Type="http://schemas.openxmlformats.org/officeDocument/2006/relationships/notesSlide" Target="/ppt/notesSlides/notesSlide20.xml" Id="Rcec33f72aa7145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bc4c3fcd6455d" /><Relationship Type="http://schemas.openxmlformats.org/officeDocument/2006/relationships/notesSlide" Target="/ppt/notesSlides/notesSlide21.xml" Id="Rb3f3895454454c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380c71d194c1f" /><Relationship Type="http://schemas.openxmlformats.org/officeDocument/2006/relationships/notesSlide" Target="/ppt/notesSlides/notesSlide22.xml" Id="Ra86da1bd272542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54d26d714e00" /><Relationship Type="http://schemas.openxmlformats.org/officeDocument/2006/relationships/notesSlide" Target="/ppt/notesSlides/notesSlide23.xml" Id="R1389beae7f7c42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dacfe2e874c01" /><Relationship Type="http://schemas.openxmlformats.org/officeDocument/2006/relationships/notesSlide" Target="/ppt/notesSlides/notesSlide24.xml" Id="R8d942684b7c24d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8d7d3579e43e2" /><Relationship Type="http://schemas.openxmlformats.org/officeDocument/2006/relationships/notesSlide" Target="/ppt/notesSlides/notesSlide25.xml" Id="R965198c2e8674a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fb90d7330469c" /><Relationship Type="http://schemas.openxmlformats.org/officeDocument/2006/relationships/notesSlide" Target="/ppt/notesSlides/notesSlide26.xml" Id="R70f69368b21240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6566e68db4390" /><Relationship Type="http://schemas.openxmlformats.org/officeDocument/2006/relationships/notesSlide" Target="/ppt/notesSlides/notesSlide27.xml" Id="Rfd9ac18688c444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4fb8e33e743ef" /><Relationship Type="http://schemas.openxmlformats.org/officeDocument/2006/relationships/notesSlide" Target="/ppt/notesSlides/notesSlide28.xml" Id="R26d5b1a1fc4642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3415f713e4743" /><Relationship Type="http://schemas.openxmlformats.org/officeDocument/2006/relationships/notesSlide" Target="/ppt/notesSlides/notesSlide29.xml" Id="R73c75f8585d744a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c26a057d04fec" /><Relationship Type="http://schemas.openxmlformats.org/officeDocument/2006/relationships/notesSlide" Target="/ppt/notesSlides/notesSlide30.xml" Id="Rac2163e0747e497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14807f8443f9" /><Relationship Type="http://schemas.openxmlformats.org/officeDocument/2006/relationships/notesSlide" Target="/ppt/notesSlides/notesSlide31.xml" Id="R3f659d083eb449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3a54e35e14472" /><Relationship Type="http://schemas.openxmlformats.org/officeDocument/2006/relationships/notesSlide" Target="/ppt/notesSlides/notesSlide32.xml" Id="R4e720fdab570476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d5d6a5a524bc3" /><Relationship Type="http://schemas.openxmlformats.org/officeDocument/2006/relationships/notesSlide" Target="/ppt/notesSlides/notesSlide33.xml" Id="Re35483cc982e4f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5e03abf9742ca" /><Relationship Type="http://schemas.openxmlformats.org/officeDocument/2006/relationships/notesSlide" Target="/ppt/notesSlides/notesSlide34.xml" Id="Raec865e0e5c347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fc1c9f1ce4988" /><Relationship Type="http://schemas.openxmlformats.org/officeDocument/2006/relationships/notesSlide" Target="/ppt/notesSlides/notesSlide35.xml" Id="Re685bd70ea79490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7ef0a20db4b51" /><Relationship Type="http://schemas.openxmlformats.org/officeDocument/2006/relationships/notesSlide" Target="/ppt/notesSlides/notesSlide36.xml" Id="Re73da8ef48c6410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a91fee92490d" /><Relationship Type="http://schemas.openxmlformats.org/officeDocument/2006/relationships/notesSlide" Target="/ppt/notesSlides/notesSlide37.xml" Id="R20b284f790d248c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b9f84223418c" /><Relationship Type="http://schemas.openxmlformats.org/officeDocument/2006/relationships/notesSlide" Target="/ppt/notesSlides/notesSlide38.xml" Id="R080ba741434c45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8d1cbeb34514" /><Relationship Type="http://schemas.openxmlformats.org/officeDocument/2006/relationships/notesSlide" Target="/ppt/notesSlides/notesSlide39.xml" Id="Rd64191425a7a409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52aa8992f41ac" /><Relationship Type="http://schemas.openxmlformats.org/officeDocument/2006/relationships/notesSlide" Target="/ppt/notesSlides/notesSlide40.xml" Id="Rc9e34e133ded431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a3139ffa248f8" /><Relationship Type="http://schemas.openxmlformats.org/officeDocument/2006/relationships/notesSlide" Target="/ppt/notesSlides/notesSlide41.xml" Id="R868b64ecf48a4ba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5abc3e62843ce" /><Relationship Type="http://schemas.openxmlformats.org/officeDocument/2006/relationships/image" Target="/ppt/media/image3.jpeg" Id="Rdddb7d08f6204d79" /><Relationship Type="http://schemas.openxmlformats.org/officeDocument/2006/relationships/notesSlide" Target="/ppt/notesSlides/notesSlide42.xml" Id="Ra5067e67a5ba40e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746f1971041ee" /><Relationship Type="http://schemas.openxmlformats.org/officeDocument/2006/relationships/notesSlide" Target="/ppt/notesSlides/notesSlide43.xml" Id="Rc0c3b39a2e2744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fd1e673cb47fa" /><Relationship Type="http://schemas.openxmlformats.org/officeDocument/2006/relationships/image" Target="/ppt/media/image4.jpeg" Id="Reb14f1f78ccc4b2d" /><Relationship Type="http://schemas.openxmlformats.org/officeDocument/2006/relationships/notesSlide" Target="/ppt/notesSlides/notesSlide44.xml" Id="Reab28b3be02e4c2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964de810948ed" /><Relationship Type="http://schemas.openxmlformats.org/officeDocument/2006/relationships/notesSlide" Target="/ppt/notesSlides/notesSlide45.xml" Id="Rd2892e14b34c41a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6499d62e6417a" /><Relationship Type="http://schemas.openxmlformats.org/officeDocument/2006/relationships/image" Target="/ppt/media/image5.jpeg" Id="Rdeae0377ab77464c" /><Relationship Type="http://schemas.openxmlformats.org/officeDocument/2006/relationships/notesSlide" Target="/ppt/notesSlides/notesSlide46.xml" Id="R973d9bfc52324db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d49d2e48d46fa" /><Relationship Type="http://schemas.openxmlformats.org/officeDocument/2006/relationships/notesSlide" Target="/ppt/notesSlides/notesSlide47.xml" Id="Rb7a84e74a55a410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b289877be457f" /><Relationship Type="http://schemas.openxmlformats.org/officeDocument/2006/relationships/image" Target="/ppt/media/image6.jpeg" Id="R0393e0b531044e19" /><Relationship Type="http://schemas.openxmlformats.org/officeDocument/2006/relationships/notesSlide" Target="/ppt/notesSlides/notesSlide48.xml" Id="R9fc72a017395442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3cdee96df4e4e" /><Relationship Type="http://schemas.openxmlformats.org/officeDocument/2006/relationships/notesSlide" Target="/ppt/notesSlides/notesSlide49.xml" Id="R24bac3daecf5437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0f846cada4a5d" /><Relationship Type="http://schemas.openxmlformats.org/officeDocument/2006/relationships/notesSlide" Target="/ppt/notesSlides/notesSlide50.xml" Id="R18d7b357f2e845d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006cad5a48e2" /><Relationship Type="http://schemas.openxmlformats.org/officeDocument/2006/relationships/image" Target="/ppt/media/image7.jpeg" Id="Re1e0ebb5098b4050" /><Relationship Type="http://schemas.openxmlformats.org/officeDocument/2006/relationships/notesSlide" Target="/ppt/notesSlides/notesSlide51.xml" Id="R117b0cfb6fc8483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d6be985544c6c" /><Relationship Type="http://schemas.openxmlformats.org/officeDocument/2006/relationships/notesSlide" Target="/ppt/notesSlides/notesSlide52.xml" Id="Rafe534e5288b4de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cc0786623420c" /><Relationship Type="http://schemas.openxmlformats.org/officeDocument/2006/relationships/image" Target="/ppt/media/image8.jpeg" Id="R1b78df766cb243ae" /><Relationship Type="http://schemas.openxmlformats.org/officeDocument/2006/relationships/notesSlide" Target="/ppt/notesSlides/notesSlide53.xml" Id="Rcbb8ec47c5b4423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64a62afec445d" /><Relationship Type="http://schemas.openxmlformats.org/officeDocument/2006/relationships/notesSlide" Target="/ppt/notesSlides/notesSlide54.xml" Id="R288abc07f6b14fb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c531d98ba494b" /><Relationship Type="http://schemas.openxmlformats.org/officeDocument/2006/relationships/notesSlide" Target="/ppt/notesSlides/notesSlide55.xml" Id="Rd55c71a7aab04b8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29affd32248c6" /><Relationship Type="http://schemas.openxmlformats.org/officeDocument/2006/relationships/notesSlide" Target="/ppt/notesSlides/notesSlide56.xml" Id="R0ff8e557176f4c9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348aea420490e" /><Relationship Type="http://schemas.openxmlformats.org/officeDocument/2006/relationships/notesSlide" Target="/ppt/notesSlides/notesSlide57.xml" Id="R093498f46c9c420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461cd71f648f2" /><Relationship Type="http://schemas.openxmlformats.org/officeDocument/2006/relationships/notesSlide" Target="/ppt/notesSlides/notesSlide58.xml" Id="R845e48651a3a4fe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6e973e6314b03" /><Relationship Type="http://schemas.openxmlformats.org/officeDocument/2006/relationships/notesSlide" Target="/ppt/notesSlides/notesSlide59.xml" Id="Rad1c3208ca3c4fe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d9ba6833e4f93" /><Relationship Type="http://schemas.openxmlformats.org/officeDocument/2006/relationships/notesSlide" Target="/ppt/notesSlides/notesSlide60.xml" Id="Rf0c3ff96767a4de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bf73674a34ee7" /><Relationship Type="http://schemas.openxmlformats.org/officeDocument/2006/relationships/notesSlide" Target="/ppt/notesSlides/notesSlide61.xml" Id="Raf805a8f4bec498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c8546b77149f9" /><Relationship Type="http://schemas.openxmlformats.org/officeDocument/2006/relationships/notesSlide" Target="/ppt/notesSlides/notesSlide62.xml" Id="R9307a6cbb79041a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7451ddbed45eb" /><Relationship Type="http://schemas.openxmlformats.org/officeDocument/2006/relationships/image" Target="/ppt/media/image9.jpeg" Id="R6314b8f51bf84c76" /><Relationship Type="http://schemas.openxmlformats.org/officeDocument/2006/relationships/notesSlide" Target="/ppt/notesSlides/notesSlide63.xml" Id="R8091ebc48203435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1976fc8a54dca" /><Relationship Type="http://schemas.openxmlformats.org/officeDocument/2006/relationships/image" Target="/ppt/media/image10.jpeg" Id="R24418d938f7e4185" /><Relationship Type="http://schemas.openxmlformats.org/officeDocument/2006/relationships/image" Target="/ppt/media/image11.jpeg" Id="R6e67be9910bc4c5c" /><Relationship Type="http://schemas.openxmlformats.org/officeDocument/2006/relationships/image" Target="/ppt/media/image12.jpeg" Id="R0c5b09eae03a416e" /><Relationship Type="http://schemas.openxmlformats.org/officeDocument/2006/relationships/notesSlide" Target="/ppt/notesSlides/notesSlide64.xml" Id="R04dda565fc0b47a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fe0fe14394ede" /><Relationship Type="http://schemas.openxmlformats.org/officeDocument/2006/relationships/notesSlide" Target="/ppt/notesSlides/notesSlide65.xml" Id="R463db828507045f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4f625b63a4786" /><Relationship Type="http://schemas.openxmlformats.org/officeDocument/2006/relationships/notesSlide" Target="/ppt/notesSlides/notesSlide66.xml" Id="Rf7f7ff352214459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2bc766064d66" /><Relationship Type="http://schemas.openxmlformats.org/officeDocument/2006/relationships/notesSlide" Target="/ppt/notesSlides/notesSlide67.xml" Id="Rf168e53a47e04e8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c2bb975004f4e" /><Relationship Type="http://schemas.openxmlformats.org/officeDocument/2006/relationships/notesSlide" Target="/ppt/notesSlides/notesSlide68.xml" Id="Rc36f39c6bf724e2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08f4b40dd4a9d" /><Relationship Type="http://schemas.openxmlformats.org/officeDocument/2006/relationships/notesSlide" Target="/ppt/notesSlides/notesSlide69.xml" Id="R2691709290d04f9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d43a8bae4129" /><Relationship Type="http://schemas.openxmlformats.org/officeDocument/2006/relationships/notesSlide" Target="/ppt/notesSlides/notesSlide70.xml" Id="R15f2e9bf4e904b55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148e1c8194667" /><Relationship Type="http://schemas.openxmlformats.org/officeDocument/2006/relationships/notesSlide" Target="/ppt/notesSlides/notesSlide71.xml" Id="R6149ae21537045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C0D6F-E65E-4A2E-A6A4-FE770C0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한국교육개발원 디지털교육연구실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02F1-CEDC-4444-840A-2A0BBD71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Codex 하네스 엔지니어링 기반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연구 환경 AX 자동화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2EDFB-41FA-438B-B7A7-A481C53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4A4A4"/>
                </a:solidFill>
              </a:defRPr>
            </a:pPr>
            <a:r>
              <a:rPr sz="1950" b="0">
                <a:solidFill>
                  <a:srgbClr val="A4A4A4"/>
                </a:solidFill>
              </a:rPr>
              <a:t>연구사업의 기획·수행·검토를 연결하는 근거 중심 연구 환경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C842B-4F72-4B96-8F06-E645E1FE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82A44-2C0C-43CA-989C-57F443C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2026.08.07(금) 15:00–17:00  ·  한국교육개발원 디지털교육연구실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225C2-32B2-491B-BB9E-BA54F45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차성재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26ABF-8440-440C-9B5A-294C2E46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A4A4"/>
                </a:solidFill>
              </a:defRPr>
            </a:pPr>
            <a:r>
              <a:rPr sz="1050" b="0">
                <a:solidFill>
                  <a:srgbClr val="A4A4A4"/>
                </a:solidFill>
              </a:rPr>
              <a:t>무신사 Agentic AI PM  /  서울시립대학교·아주대학교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32109-AA24-4CC8-8B59-FCD9ED6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0D930-BC03-40CE-9D0D-FED2F93E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OPENING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011A9-1338-4C63-81F6-CCDEC3C6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9600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F0D4B-81BB-4144-ABDC-33B3232B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강사 간단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B34C5-8C68-409A-BE16-4431A6F0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현재 · 이력 · 연락처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05F6B-FFE8-40E1-A990-A8C0531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현재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8A5B3-2BBE-402F-AF26-B09DD428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현업 · 부업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D4185-EA3A-4294-A3FE-63420083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현업  AI 서비스 기획·개발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부업  AX · AI Native 강의·멘토링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76F4-9B0F-409F-822A-3A11BB7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B2E19-0F2C-4E32-A883-F00C2D78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이력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8CE71-53C4-4F03-9EC9-58BFEDB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직무 · 산업 · 기술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3A5D5-6BCB-4558-964D-789E455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개발자 → Agentic AI PM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금융 → 의료 → 교육 → 이커머스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ML → CV → LLM →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3641C-7E87-4EDE-936F-E83D0C00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BA9F4-E53C-4915-AC7E-A13D610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연락처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D7E0C-A991-42C9-8BED-D8907778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AI 활용 문의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1B61B-6594-499C-9F70-2989012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LinkedIn  linkedin.com/in/smilechacha</a:t>
            </a:r>
          </a:p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Email  business.sjcha@gmail.com</a:t>
            </a:r>
          </a:p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Phone  010-9562-9958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51D3E-3909-40E9-9048-5DBC6288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AI 활용·업무 적용 관련 문의는 언제든 편하게 연락해 주세요.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4244F-7DDE-4ADD-B008-859FF28D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AE107-80EF-47AE-82DF-61C0C6D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OPENING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77527-149D-4DD4-A395-10F7DB83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8696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9FB9F-C15A-4715-A961-D832B1BF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강의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945B8-9301-4E53-A001-A5F2AD8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강의 일정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601B5-E4DA-4DFE-B2E1-51B52AC6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연구사업의 기획·수행·검토 흐름에 따른 핵심 요청, 연구 환경, 실제 화면, 적용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BCF57-30C1-479F-8B9C-01BFED7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B207C-9E54-4C22-BC43-E6A3631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C8511-4C44-4ACC-92A7-95FDC154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68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15:00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AD808-2EB5-4ED6-812E-76761C45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99263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연구 업무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B999C-292A-48EC-B4CB-39A82D0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9263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사업 흐름과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반복 병목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47D50-36C9-4245-B45D-D4A3D59D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5EB6D-EF0E-4183-990A-B701787E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647950"/>
            <a:ext cx="2068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15:15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6F28E-1BA2-4264-9D7A-4A4E26E8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467100"/>
            <a:ext cx="199263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핵심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3EF06-AF59-45AD-B112-8ABF5C2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171950"/>
            <a:ext cx="199263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자료·근거·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다음 행동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1E26C-8C79-491C-88C7-A824C569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85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79C3D-BD1C-459B-92F8-FE3B0E16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2647950"/>
            <a:ext cx="2068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15:35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91458-4336-443B-AD99-FB582A4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467100"/>
            <a:ext cx="199263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연구 환경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1A2BD-6FB4-45CF-9EC9-B95A9B49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171950"/>
            <a:ext cx="199263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규칙·검증·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변경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447F5-23DF-43E3-8EEF-F38C980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65E98-EBD7-4979-AB97-7C1824B9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647950"/>
            <a:ext cx="2068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15:55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D99E5-7F7D-469F-9464-E9588AE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467100"/>
            <a:ext cx="199263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실제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02E2F-FDFA-42F6-8DC1-3395E2C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171950"/>
            <a:ext cx="199263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학생지원·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연구 노트북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51E80-59DE-44D9-8F2E-B80ECF4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9908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556BF-F54C-41ED-9F0A-F525CBC8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647950"/>
            <a:ext cx="2068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16:45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9B011-32AB-43A7-816D-7D96E79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3467100"/>
            <a:ext cx="199263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적용 기준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513BE-416E-4DEB-98A8-8ED2A0B3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4171950"/>
            <a:ext cx="199263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승인·성과·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위험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A6E91-6BD9-4764-BAA0-25F739BF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C2F38-DE7B-4DBA-AFDD-2CF6617B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OPENING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E51E0-73B8-435B-A30F-1C4D4D32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4757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8084E-5AAD-40AB-99FB-EC949D62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오늘 가져갈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91F5-7BF7-46E2-8DE8-2E3E0C9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오늘의 세 가지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6E9EF-7469-46B0-9188-1C991DD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연구사업의 산출물·근거·책임 구조에 코덱스를 연결하는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C3F34-313C-408C-BFCB-E3412B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01 · 연구 요청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B4D0D-80B5-4AE1-976F-556430D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목표·자료·산출물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40FB4-BD70-4FD4-A486-D1DF4DC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연구 질문과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완료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37FD2-B36F-4E67-954E-E38CE3A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DAF36-75B0-488F-94B5-0E0840A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02 · 근거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26190-26C8-47CF-B2B5-014B93BE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출처·검증·변경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088B4-1EF3-4DB1-B251-46FB0AA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원문 위치와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실행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1DD12-268A-4B3A-B2D0-1D55CD66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592D8-5D3C-4EFB-BE99-D975A75A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03 · 연구 책임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8F105-AB54-48A2-989F-2070605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판단·승인·공유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C8D34-11DF-4777-9B88-9218556B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연구자의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최종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46DD3-2FC0-412B-AF71-2C1BEE2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C0FD7-6816-4ADF-9733-2C89E759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OPENING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63CF2-A913-4D23-9D22-62B23A1A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5308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F346E-63E9-48FB-9EB4-9245090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빠른 진단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A2DFB-6DC0-4555-BD39-07D755A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연구사업에서 누적되는 반복 업무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2A2DD-975A-4725-B838-31C4D94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자료 탐색·정리·검토·보고 과정의 반복이 연구자의 판단 시간을 잠식합니다.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42239-E506-46B6-BC5C-766AF1FF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• 여러 저장소의 자료·메타데이터 재확인</a:t>
            </a:r>
          </a:p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• 회의·중간보고 전 핵심과 미확인 쟁점 재정리</a:t>
            </a:r>
          </a:p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• 표·목록·보고서 형식의 반복 변환</a:t>
            </a:r>
          </a:p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• 출처·수정 이유·담당자·일정 추적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304BF-8AFD-4150-B2C1-125771D7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첫 적용 대상: 빈도가 높고 기준이 명확하며 결과를 사람이 검토할 수 있는 업무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AFD18-BFF3-42B0-9EF0-F8048FE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DBDBC-060B-42F0-8865-E1A84A8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2E0ED-FB73-46BF-9A32-5B1F788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8579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0EADF-1F37-413F-A473-94A6F8A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EAB42-88B6-4BBD-B52B-9C3F592B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E098C-EFAC-4699-A71E-F00DE53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첫 번째 변화: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연구자료 정리의 구조화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7937D-665E-40FE-8437-2A47F5E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자료 묶음을 근거·확인 과제·다음 행동으로 변환하는 요청에서 시작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D1F0-0B23-48D9-8255-A8F8B0B5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4DBD1-FEEB-4B5A-8F28-E11D3175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1 · 첫 부탁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99C80-50EC-44C3-AF83-E442F0F4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2636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84E09-9DB4-4F8E-B4F2-08D1CB4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KEDI 업무의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759BE-5614-4C50-8B13-644D8D76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디지털교육연구실의 일은 연구에서 서비스까지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17EE-5872-49F8-B7AD-571B791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연구 결과가 콘텐츠·시스템·운영으로 이어지고, 현장의 경험은 다시 다음 연구 질문으로 돌아옵니다.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fee9d19684609"/>
          <a:srcRect xmlns:a="http://schemas.openxmlformats.org/drawingml/2006/main" l="0" t="19163" r="0" b="19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A66D-0527-496C-B8D2-4DAF83C9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AFE05-3DFB-4642-B2C7-290283D7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연구 → 서비스 → 현장 경험 → 다음 연구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3ACB-E8E2-448D-99F6-37846C3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866"/>
                </a:solidFill>
              </a:defRPr>
            </a:pPr>
            <a:r>
              <a:rPr sz="975" b="0">
                <a:solidFill>
                  <a:srgbClr val="686866"/>
                </a:solidFill>
              </a:rPr>
              <a:t>출처: 한국교육개발원 공식 조직도 (2026-08-06 확인)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1B47-4A96-4BF1-AB5E-91146616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41DF0-59A0-4EC0-B924-52C3BC10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E938B-E5C1-4D41-B00F-22F9416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6261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A0FC4-E15F-4962-ADB6-C4619317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업무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539BC-DFEC-4D5F-8A58-AB624B4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보고서·콘텐츠·시스템·운영의 한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28398-876C-4218-82C4-D6F90BD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서로 다른 업무처럼 보여도 공통으로 필요한 것은 자료를 읽고, 기준에 맞춰 정리하고, 다음 행동을 남기는 일입니다.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09BE0-153B-4981-AC31-0E3BD62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연구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59718-1A3F-47B8-A320-8C1F95B1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질문과 근거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119AA-C709-4FEF-9A17-104FC92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공개 자료·논문 검토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연구 질문·결과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E023F-3DC4-464E-B031-439A6CF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35C9A-1F80-4B81-AA71-376E165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콘텐츠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50037-434F-4253-9E91-94D3714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내용과 품질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11B40-2C98-4392-94C8-FC8482B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대본·활동·평가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접근성·수정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6A0F7-D4B9-4F29-B0A2-CDE2B1F6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1BBF3-4243-4CB9-A4FD-DBCF9D6B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시스템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AB85D-39AD-422D-A831-6B441C7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화면과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6FF38-91DA-4BF7-9FF4-D300C067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사용 과정·오류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변경 요청·확인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1CA88-0107-440E-A5C5-0F0F81D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CCF25-D097-4BC0-B9D8-66DA43C0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운영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BBBCD-652D-4457-A04E-6D88A21B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현황과 다음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4ECAA-FA2F-4C27-8C74-7F111621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문의·지원 요청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회의·담당자·기한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D24FB-81BC-4E0F-96F4-CCE5EDB3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공통 요청: 읽기 → 구분하기 → 정리하기 → 사람이 확인하기 → 다음 작업 남기기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A42AB-46EC-4F82-AA05-2668F117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A66BF-F332-4BF7-BDF8-866CA8CA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A7EA6-7468-4947-BF82-74B4ED83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6095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344DE-F3EA-4416-A034-FB8428E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공개 사업 맥락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92C55-2B8B-4CAB-9942-A586B0C0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학생의 상황이 다르면 필요한 도움도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AEE58-CE80-411D-AA22-81A7E75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공통 기술을 쓸 수 있어도 학생에게 보이는 기능과 안전 기준은 서비스별로 다시 확인해야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46D6-0A16-4703-AB8B-BE37C0BB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스쿨포유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F74C5-DFD9-4631-9279-39B4CE2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건강장애·장기결석 학생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2A570-BDBF-40AD-BEA2-1217521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정규 교육과정 기반 원격수업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학습권·학습 지속 지원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2026 AI 디지털 클론 콘텐츠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B7558-CF1E-42F8-8E96-C7878E8B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FC4AF-41DA-4A58-8468-CDCA1878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하트포유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6F70C-A91E-4C44-8664-BE14CF7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정신건강 입원 학생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E9A20-C998-47B5-A01C-E13CDD3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정규 교육과정 원격수업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사회정서교육 콘텐츠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2026 AI 디지털 클론 콘텐츠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49330-902A-46A8-9FC9-1AD3B0B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C36AB-8974-4711-8BF8-8C136847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학생선수 e-School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95744-4ADB-4229-B3CE-D07AEE7D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학업·운동 병행 학생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B6AAC-41EB-401E-B618-7D9CA3CB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수업결손 보충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기초학력·학습권 지원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학습·콘텐츠·운영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37251-36F4-470D-A2A2-550A408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EFD2C-58CA-47A9-B130-62560B4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온라인 보충과정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25AE6-24CB-462C-8F60-87360013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미이수 과목 학습자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37B45-2FD4-4DEC-A76D-D326F3A7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전·편입 등 미이수 보충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과목 이수 기회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고교학점제 학습지원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B7679-4FB4-4855-BD51-77ED373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공통 기반은 재사용하되 학생에게 보이는 기능과 안전 기준은 사업 맥락별로 다시 검증합니다.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BC6A7-D6E9-4946-A1BC-2F49B3D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2DEE4-4988-4A0C-B212-8950B90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C678A-E71E-49D1-8ADE-1109004B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9079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F44F0-382B-499E-9739-503DDCF7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가장 먼저 써볼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09C7C-57BF-47F3-991D-4C510BB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디지털교육연구실이 가장 먼저 체감할 코덱스 활용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6C693-3888-44A7-933C-FB01537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B9A43-D528-4484-95A1-1C8A163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“이 자료들을 읽고,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확인된 사실 · 아직 확인할 내용 · 다음 행동을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1쪽으로 정리해 주세요.”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B500C-D041-4B60-97E5-E5F28B7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원문 근거를 붙이고, 추정하지 말고, 제가 검토할 부분은 따로 표시해 주세요.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8A75F-9706-4225-833A-C14EEBE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8E43D-F2A2-42C5-ADA0-2B069715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1 · 첫 부탁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33C4D-A945-4AB8-B1DD-22ECC3B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9629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D3756-CDE6-4454-8988-E6D5CE0B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한 요청의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4D5CF-6443-4147-B05E-2CE6E126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한 요청의 실행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EF406-1B9C-4E93-B9A5-5AFD3C1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자료 확인부터 연구자 검토와 후속 작업 기록까지 다섯 단계로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AF1D0-27FA-4527-9480-3A0E004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7B6D8-7C03-43E1-850C-FBE3667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4A21F-5F0A-413A-B33B-1F8A0C1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자료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AB052-97BA-4F2A-B040-179F869D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정한 폴더와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문서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CC4D8-3E94-4A0D-9F68-AF912B2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FFB43-8E83-480D-9D7C-F7F89123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B8A06-909A-46E0-AB25-3D1D0319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내용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EC65A-C477-4FF2-873D-22CBAA0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사실·해석·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확인 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73EC7-35F0-4859-A755-C0DB820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23499-8832-4106-B6B0-C4267AA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7F1E9-FC94-40DD-8F28-6E194D2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1쪽 정리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4D13D-2634-44D7-BD87-22EAB82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핵심·근거·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다음 행동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C8DFA-2F72-47AB-9F95-BA9CAE75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89499-8B75-4277-BD85-1A19FA5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29E55-46AC-426F-9CA3-586858D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사람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053DA-E746-4C6B-AA93-C8CFC80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틀린 곳·빠진 곳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최종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8DF66-9944-4E3B-A0F5-DC9FB74F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9E378-A3A3-4EA8-B22D-1A66CEB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3C775-B33B-42E3-83C7-B394B31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다음 작업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A8E9A-33C6-41A4-A665-0542B6B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수정 파일·담당자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기한 남기기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395BA-653D-4298-8607-143963C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첫 결과에서 발견한 오류와 누락을 다음 요청·기준 파일·검증 절차에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9DEC3-FF34-43E9-B639-D0F6B8B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77386-8277-4012-8AA9-81870F0D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D9253-1A59-4D62-8DCA-EE4CD2D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2437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0BEDC-2596-4FF9-A0F9-AD057D43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변하지 않는 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DF1E3-ED23-4B7F-A1A1-372E3584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코덱스가 대신하지 않는 세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E8E02-75D5-43B0-A005-A88112A6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빠르게 정리할 수 있어도 연구자와 기관의 책임까지 옮겨가지는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69CB-6826-40F5-833C-E15A1D2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무엇을 믿고 인용할지 결정하는 연구 판단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학생에게 영향을 주는 평가·지원·상담 판단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대외 공유·정책 결론·최종 승인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02DF9-DC43-46DB-BDF1-97BFEC5E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코덱스는 검토할 자료와 선택지를 준비하고, 중요한 결정은 사람이 내립니다.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336CB-E553-4800-8A00-2314C83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E2CEB-4A57-4E1A-AF3F-FE4CD56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C4460-99B4-4BCC-A8B7-C63460B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2144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78C3D-49E9-4437-9639-6339605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확인된 현재 · 제안하는 다음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22D1F-E11F-46CE-92B1-5F04051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지금 확인된 AI와 다음에 시험할 아이디어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54E28-27F4-4A41-8677-8721B7B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현재 공개된 활용과 강의 제안을 구분하면, 과장 없이도 다음 가능성을 편하게 논의할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1BFC9-80F9-4191-852E-46856DAD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공개 자료로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88E11-A782-46CC-8F28-E0E9F69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AI 디지털 클론 기반 콘텐츠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46B07-EA47-4892-A792-77024E86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스쿨포유·하트포유 원격수업 콘텐츠 제작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강의교사의 얼굴·음성 모델링 활용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해당 콘텐츠 개발·유지관리 범위로 명시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2B5AB-67D3-4CD0-9E38-06B78D4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강의에서 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D51B8-CC7C-4FEA-BDB4-FAE74F10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학생의 다음 행동을 돕는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C6EF5-7938-4CBA-A231-D93BAAE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목표·할 일·도움 요청·회고 연결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가상 자료와 규칙 기반 로컬 시안부터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자동 평가·위험 예측·진단은 비범위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2375-C82D-4311-ADB7-43D9EE60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88253-D8AC-487A-A455-CED1816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6866"/>
                </a:solidFill>
              </a:defRPr>
            </a:pPr>
            <a:r>
              <a:rPr sz="1500" b="1">
                <a:solidFill>
                  <a:srgbClr val="686866"/>
                </a:solidFill>
              </a:rPr>
              <a:t>AI 아바타는 확인된 현재 사례 · ‘이번 주 학습 길잡이’는 검증이 필요한 강의 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F3FE6-EAAA-4221-B55B-F9FAC38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8DBA5-4F9D-4806-BBC5-88DA21E5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1 · 첫 부탁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19ACB-7407-4EC6-810A-5A09531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0030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92DBC-DE6F-448C-9C25-A675EB8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첫 번째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8E5CB-DE09-403C-BA86-9DC80811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첫 질문의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E7330-BCB4-4EBD-B313-530152D7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1E6E3-3141-4592-B605-711F8A14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“무엇을 자동화할까?”보다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“무엇이 보이면 일이 쉬워질까?”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339B-3235-4800-870D-A0DAF5F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자동화 대상보다 연구 의사결정에 필요한 화면·문서·검토 항목을 먼저 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FFAA-BE33-4145-B8A8-2153CABE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F3C6D-B684-455A-84E1-78682D6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1 · 첫 부탁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93F02-B702-4EA3-85D5-4DF03177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5539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460E-B4B0-495E-AD6E-58126FF8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166C6-E601-45F5-8786-B52B1F5C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41179-257B-4782-B4DD-9CF51A88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두 번째 변화: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반복 가능한 연구지원 환경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00B78-A6C0-4062-8746-3781E32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동일한 요청에 동일한 자료·범위·검증·기록 기준을 적용하는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6BCCC-EB9A-4828-921B-CA5B05F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C02C-055B-46A9-80D2-7E9D6DBE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2 · 연구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D52BB-5EF5-429B-8360-078C720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39720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7F9A0-C74C-4415-8A30-D4A2C648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186B2-23A7-44C5-B0C3-62C5B69D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연구지원 환경의 여섯 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0472-1E78-4AB5-A34F-1CD3C0B8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1D1A-786D-4236-91BE-AC20375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0505"/>
                </a:solidFill>
              </a:defRPr>
            </a:pPr>
            <a:r>
              <a:rPr sz="3600" b="1">
                <a:solidFill>
                  <a:srgbClr val="050505"/>
                </a:solidFill>
              </a:rPr>
              <a:t>자료 · 할 일 · 도구 · 하지 않을 일</a:t>
            </a:r>
          </a:p>
          <a:p xmlns:a="http://schemas.openxmlformats.org/drawingml/2006/main">
            <a:pPr algn="l">
              <a:defRPr sz="3600" b="1">
                <a:solidFill>
                  <a:srgbClr val="050505"/>
                </a:solidFill>
              </a:defRPr>
            </a:pPr>
            <a:r>
              <a:rPr sz="3600" b="1">
                <a:solidFill>
                  <a:srgbClr val="050505"/>
                </a:solidFill>
              </a:rPr>
              <a:t>· 확인 방법 · 변경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C3FB1-F987-4788-95DF-39B61F3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6"/>
                </a:solidFill>
              </a:defRPr>
            </a:pPr>
            <a:r>
              <a:rPr sz="1725" b="0">
                <a:solidFill>
                  <a:srgbClr val="686866"/>
                </a:solidFill>
              </a:rPr>
              <a:t>자료 · 할 일 · 도구 · 하지 않을 일 · 확인 방법 · 변경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ED54A-4E89-4511-9700-912BCD1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2248C-7740-4070-8F95-13CA6A0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76507-5C7E-44D7-B1CF-43095D8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296101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FF946-EC52-4B75-A1FA-6FF4A457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09FBC-61F9-4122-A224-7942CF3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개별 요청과 연구실 표준의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CD3B-218C-4495-B5E5-EA2E20C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5D52"/>
                </a:solidFill>
              </a:defRPr>
            </a:pPr>
            <a:r>
              <a:rPr sz="1200" b="1">
                <a:solidFill>
                  <a:srgbClr val="C85D52"/>
                </a:solidFill>
              </a:rPr>
              <a:t>한 번의 부탁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515FF-F819-4CA2-8E0B-1F2D024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오늘 필요한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4D291-867D-4D26-8050-BFF70161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이번 작업의 목표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참고할 자료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원하는 결과 모양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이번에 조심할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3683B-4AE3-49EE-9474-C16513C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반복할 약속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B63D8-752E-405F-8DFF-DE7A412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다음에도 지킬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A3A25-4FD2-4BAA-9BA0-4272DBB8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폴더와 파일 위치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항상 따를 작업 순서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품질·출처·보안 기준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확인과 변경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23F03-1631-4881-8EAB-473D09C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56933-C8AE-4F69-B104-A62122F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6866"/>
                </a:solidFill>
              </a:defRPr>
            </a:pPr>
            <a:r>
              <a:rPr sz="1500" b="1">
                <a:solidFill>
                  <a:srgbClr val="686866"/>
                </a:solidFill>
              </a:rPr>
              <a:t>검증된 요청을 표준 절차와 정책으로 전환해 설명 비용과 품질 편차를 축소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DD0EB-6BD2-42C4-8500-22F862CB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79A72-24CD-43BD-9DFD-89BDDCE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C94C1-3394-406B-83B5-6CC1E936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83918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A6378-51E6-4550-B58D-9032F6B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여섯 가지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EF267-F1EF-4A51-BD9E-D1D5E27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Research-agent의 여섯 구성 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DC672-92AD-415C-BDBB-FB888B4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안내·절차·기준·실행·산출물·변경 관리의 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2893-C0D9-4A7E-8133-F308EEA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안내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CF864-7C8E-4C81-9AE5-B647EA1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어디를 볼지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CDF7-9277-4EB4-9767-4204A283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폴더 구조와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먼저 읽을 문서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D4C3B-EAA2-4AA3-A677-A662F63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5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ABD81-8606-448E-AC81-381B4D0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25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AB411-ADA2-4280-979A-BFB2668D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25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어떻게 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33F18-A86F-46E7-841B-056CC32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25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검색·검토·작성의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반복 절차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59A9C-5DCA-4094-A002-F2D34179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C4BB0-0E76-4948-8430-6EB47BB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7D476-B867-47FC-B7EF-DA58F8A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무엇이 좋은지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F0AE5-F5CD-49D7-A316-0A7FA17C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출처·품질·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금지 사항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28CD7-8CBA-4727-8822-F95E2AC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CBA5A-90C0-40CD-AD36-E6D02CB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3A6C2-2B96-401E-8FB2-0E91C95D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무엇을 돌릴지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F092E-F3D0-4DC0-84FB-2C393D1A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노트북·명령·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점검 도구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FA18C-B57F-4C7F-952F-337488C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7AABB-51BE-42D1-82BB-ED906E5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38742-825E-4AF6-97F6-DC38385D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어디에 남길지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F0D6-0D84-4A77-8E82-074CEDA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표·문서·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확인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7DF63-1EDC-4A7C-8949-0358AD7B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05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47CAE-68DB-48E8-AA38-C712B77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2266950"/>
            <a:ext cx="156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변경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74D06-AC0F-4F3A-9629-0B3A01C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2667000"/>
            <a:ext cx="1565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무엇이 달라졌는지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4E5A-AAC6-4BF7-B72F-B259290A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3524250"/>
            <a:ext cx="15652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비교·검토·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되돌리기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EA9D8-15C9-4627-9CC0-6473C863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저장소가 연구사업의 작업 맥락·품질 기준·현재 상태를 제공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F84C7-1981-4E12-B30F-606D755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255F5-D5F6-459B-BEF7-07C56A5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18A9F-FE09-4B8E-BCA1-E9AC0DDE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93051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03F93-2C3B-4E11-9013-5CF7F0B3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실제 저장소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EA29F-6C88-464B-9FE3-AF2D6E18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폴더 구조가 코덱스에게 주는 연구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1336C-105B-49BD-A1D4-B17C299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파일을 모두 설명하지 않아도, 어디에 무엇이 있고 어떤 순서로 이어지는지 보여줄 수 있습니다.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77f6083d44000"/>
          <a:srcRect xmlns:a="http://schemas.openxmlformats.org/drawingml/2006/main" l="0" t="17313" r="0" b="17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EB94F-DCA3-4775-BF3D-A3BA957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D4458-4880-4143-A6F0-CEA9DD4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안내 · 순서 · 기준 · 실행 · 결과 ·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B0F39-B98E-4C16-8799-6AE753E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866"/>
                </a:solidFill>
              </a:defRPr>
            </a:pPr>
            <a:r>
              <a:rPr sz="975" b="0">
                <a:solidFill>
                  <a:srgbClr val="686866"/>
                </a:solidFill>
              </a:rPr>
              <a:t>출처: github.com/smilesjcha/research-agent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B2256-4B37-4271-AC7B-420E02C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7C195-891F-4182-8A64-D4C5CF78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E59AD-1DD2-4089-8E38-B7F861CC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279882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92071-51E6-4D8C-958C-9B4F1959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기본 작업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C15AD-EFC1-4EB9-830B-225AFB4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AGENTS.md: 우리 팀이 지키는 짧은 약속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7E1C3-AA96-4D42-A1F5-5D0F234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41954-8EB6-4C9B-8E50-BE60B3D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먼저 읽기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1. README.md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2. docs/harness/workflow.md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3. policies/citation_grounding_policy.md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원칙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- DOI·저자·연도·페이지를 만들지 않는다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- 근거 부족 문장은 VERIFY</a:t>
            </a:r>
          </a:p>
          <a:p xmlns:a="http://schemas.openxmlformats.org/drawingml/2006/main">
            <a:pPr algn="l"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- 새 산출물은 workspace/ 또는 references/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6DB0D-565A-45BD-8F70-C1A1FE3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길게 쓰기보다 ‘먼저 읽을 것·만들 위치·확인 방법·하지 않을 일’을 정확히 남깁니다.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50DA9-ECE4-4443-BBD1-2064B19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FF8B5-B41F-4960-9488-1E0E855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2 · 연구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62458-A43B-43EF-96FB-4A12987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47570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4A7FF-4008-4555-B27C-1B40CFB2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반복 업무 절차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30D24-CA9F-4E7F-9154-90470B83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commands/: 자주 하는 일의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9EBCB-0CC6-466B-BB34-534A3365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매번 새로 묻지 않도록 반복 업무를 짧은 작업 순서로 남깁니다.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87710-012D-4FFD-895D-7099667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연구 질문 좁히기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문헌 후보 찾기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원문과 근거 확인하기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초안 검토와 인용 점검하기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39126-482E-4F6A-B85A-F067FF7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좋은 요청이 반복되면 긴 프롬프트보다 짧은 표준 절차가 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40842-78D4-434C-91DB-C5661948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00C09-89BB-44F4-B0A4-6240FA8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44415-CF00-4D1A-9694-412F6A7A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490682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C88C0-0E2F-4510-BFC2-6A11E136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품질 판단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EEF4A-7C15-481A-BDF1-1CB709E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policies/: 좋은 결과인지 판단하는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6CEFE-506A-4DAF-B62F-DB8DDFE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코덱스가 정답을 결정하는 것이 아니라, 사람과 같은 기준표를 보며 먼저 점검하게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BB26A-8437-4942-9500-EF9FD066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8EF87-59B7-4D7D-8AEE-88EA7C8B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근거 등급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33687-8054-44E5-BAE1-30A4C1F1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원문·방법·수치·위치에 따라 1–5점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DEBFA-39F1-4630-BB80-7EA8DC3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A13C-B650-411C-8013-939BC8EE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문헌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FB2F5-5BEE-49AB-8352-7626F4F8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문헌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26328-D828-4FE1-9396-2B12D0F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핵심 / 보조 / 배경 /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A413-5EB7-4EA4-8629-E6F5111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6046C-43E3-43D9-A8AA-E622087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76B7F-7A6C-4461-958F-21F0942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거절 위험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5EC82-B7C0-4132-921D-FFA1AC4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새로움·엄밀성·근거성 등 6가지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FE239-E6E5-45BB-8557-8AF50E95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31005-C665-4C27-8ED0-7F1D9F3B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EE62A-762D-459A-959A-CBF64F6B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629920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36059-C215-4C8D-8ABE-8504DB3C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재현 가능한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2BF22-0E5D-4CC8-ADAE-393DC02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notebooks/: 다시 실행할 수 있는 연구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D9B88-9ECF-4A11-93B0-BA8A4AD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F5C32-3921-4E15-8211-D71EEA5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50505"/>
                </a:solidFill>
              </a:defRPr>
            </a:pPr>
            <a:r>
              <a:rPr sz="4125" b="1">
                <a:solidFill>
                  <a:srgbClr val="050505"/>
                </a:solidFill>
              </a:rPr>
              <a:t>입력 + 실행 + 출력 +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8D009-4450-4137-898F-3B9DC46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6866"/>
                </a:solidFill>
              </a:defRPr>
            </a:pPr>
            <a:r>
              <a:rPr sz="1725" b="0">
                <a:solidFill>
                  <a:srgbClr val="686866"/>
                </a:solidFill>
              </a:rPr>
              <a:t>무엇을 넣고 무엇이 나왔는지 남기면, 다음 사람도 같은 과정을 확인할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C4BEE-D008-4CD9-9EBC-C92309D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5E0F8-1132-4A73-B623-D64252E6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01B64-B0DE-495F-8B0E-389A7ACA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023366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08E328-6367-4680-92CF-32CF725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변경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1297-4881-41F1-BE97-BE0DA771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바뀐 내용은 확인하고, 비교하고, 되돌릴 수 있어야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B3A04-D268-4A9D-A77B-3948968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GitHub는 잘못을 막는 벽이라기보다, 변경 이유를 남기고 함께 확인하는 안전장치입니다.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639AF-9433-46B5-947D-6A9622E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143E5-5F3D-4047-9C7F-4A3E8775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E62B5-C418-429B-96B5-723E3E2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작업 분기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5463D-3EFF-4139-9B37-29A903AB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작업 격리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39961-3C9E-4096-882D-750E0FC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8905-AE93-4496-BC44-DE97622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DDD5-46AE-47E4-9DA5-6C765BB7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변경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4E094-D4B1-4634-98E6-D6CC7F5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작은 변경 단위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06493-75DF-4BB5-B6B4-6B5EC51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BA7B7-5C4A-4397-A698-4562FF2D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7BB05-4EEF-4AF0-A6C0-E79149EA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검토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C223C-EBC6-481C-9638-DE9A3A4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근거와 검증 공개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96950-1AA7-45ED-859D-D19DC8AD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93C49-F17A-401F-BF4E-52A8D08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7561A-DA73-4E67-A44D-39410F7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검토·반영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B577A-7B9F-4227-8C85-DA61684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사람의 승인과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4CC46-1332-4F43-870D-52FD2A8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628BD-9878-4D32-ADCD-8F7F486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81DC5-707B-428C-B1EB-DC399434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되돌리기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DB175-092B-4C1E-9A08-D308993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문제 시 복구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D876B-EF86-4F08-B5CF-8ED5CCA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01931-E335-4CF0-978A-17496BD2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858B9-3A11-43C0-BA5A-7BA50D2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915240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FE865-B49B-4FA4-8BA3-09FEE458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개선 순환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847D5-74E8-42CA-855F-94792BDE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같은 실수를 두 번 하면 다음 약속을 고칩니다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67DC2-1064-4937-8CA3-13F692D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실패를 숨기지 않고 테스트·안내·기준에 반영하면, 사람과 코덱스가 함께 조금씩 나아집니다.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1FF0B-3BDB-4984-B4EA-A502744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E39A1-6ED9-411F-ABF8-50FCD4F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40528-B2BE-4249-87E6-B105117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의도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B4062-E0CF-4D6C-AF37-F53CD7E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목표·제약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AEDFE-A298-46B1-A4C3-92F30F3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40DB-DB43-4093-93F5-036EC3D6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99868-E989-4057-8F00-CFC0EC5D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429BC-3FF7-4EF4-872F-7C4311B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775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도구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71CF9-6579-4A3C-B7C7-F4F3A36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65289-E63A-4744-9955-1FA5E10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075A5-CF35-400C-AC06-9FADCAD1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A7CAE-7712-4146-81DB-E95781C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파일·표·코드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064DF-AD2C-4D23-A3DD-DE3EB16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A36AA-B338-4248-812A-52F39A5F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D63C8-75ED-4EB9-8B67-581845F0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자동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C2ED3-265F-4B96-AA4A-3F2DE4A5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불변조건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C0BC2-1BD3-4E4B-AB46-48C2BE44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087D6-BDD6-48A5-A810-98BE4EE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9EBC0-8735-4A5A-A3E6-25BB5D2B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41ABF-2E84-443E-8032-4B3A65C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사람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DF99A-A432-4223-B56F-FF0FDD6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552700"/>
            <a:ext cx="1660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68F6F-2879-4974-B0A3-9122C2C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2933700"/>
            <a:ext cx="1660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72248-1590-4BFF-9BE0-7CD866A7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3181350"/>
            <a:ext cx="1660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규칙 개선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A2E09-4301-4358-977C-D98D924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4019550"/>
            <a:ext cx="16605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재발 방지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EE374-5E76-414F-A180-E468305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64999-3E6B-4F77-8A22-E712D0A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2 · 연구 환경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0F363-F121-458C-97F2-39F368E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262662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008F3-C406-4D65-940E-FF567DC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7A698-E50E-4FB4-B7B4-6E65B94D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완료의 기준: 만들었다보다 확인했다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CBEAD-53B6-4B9F-938F-A2200EA5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03ED-0326-4376-852C-59F1A2EB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파일이 생겼는가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87A79-BAA1-4C7A-B39B-B6796EA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문서·표·코드·화면이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요청한 위치에 존재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2901-3A0D-4771-8F77-5909B013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522F-C5E0-402F-8B73-B6E464C0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20A51-39EC-4BEE-A769-E3591F9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요청과 맞는가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64C31-8C97-4767-B880-B1F3A512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범위·형식·핵심 내용이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목적에 부합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82877-CA11-40A4-B2FF-9F38C26F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3432B-9CAC-4E79-864F-45C136A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8EE2D-F143-4937-A0A4-F05C8DE2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확인할 수 있는가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DDC3-6E7F-4519-A47E-BA768BDC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출처·원문 위치·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확인 필요 항목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33E27-F4AA-4DD4-AEF7-CC009D9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A4662-5522-4ADB-A7E3-053B9FB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작동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4B335-75F3-4538-8B01-00CD898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다시 열리는가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B2220-10E1-448D-A163-DA2915C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실행·화면·링크·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기본 점검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54A51-BAEF-405E-BAE7-B7F2CD6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코덱스에게 ‘만들어줘’ 다음에 ‘직접 확인하고 남은 문제를 알려줘’를 붙입니다.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CFD8A-F386-4176-804D-388BD82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8A5BF-C5F2-41F3-9D15-BBD42372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2 · 연구 환경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0D87C-9BAD-4FAA-B938-52067B9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83823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FD850-180E-401F-8F83-70C7211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56307-A7A1-4EB3-8853-AD8C2383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6A103-7598-4BC9-B830-DE11F83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세 번째 변화: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연구 요청의 구조화와 반복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79C3D-6DF8-4097-84DD-12D5EA52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요청문 완성도가 아니라 목표·자료·산출물·검증 기준의 명료성이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56E70-6BD5-4D11-99F8-3BA9C35D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6576D-8850-475E-974A-0FF5FA1A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3 · 부탁의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BCCD2-4098-4867-8C7E-D3D527FB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148736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CEE48-0EC7-4CB3-8FD0-922979D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기본 4요소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AA7D3-050B-4575-942F-A67706F0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연구 요청의 네 가지 필수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60C2D-746B-4F0F-B1EA-EB8CF8E9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업무 성격에 따라 필요한 항목을 선택하되 중요한 판단 조건은 명시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1CA94-5A8D-4AC3-AF81-56D89771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목적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BEFE5-FAA1-4042-91A3-601F110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원하는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0EFE-AC68-4462-BC13-935771E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무엇을 만들거나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바꿀 것인가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9DD3B-6F1B-4829-A092-492ACF7D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BE26A-D104-4337-B782-0659EF09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참고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D8E95-4BE0-44F8-87B3-C87B3DF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근거와 현재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ECC55-A854-4D19-B638-DA4F21E4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어떤 폴더·문서·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예시를 볼 것인가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51FE7-3399-472E-B4FA-EF51E35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C1395-BA0F-4F4A-AD11-862E4AD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49253-621F-4392-8F2C-3A22927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형식과 활용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8CA79-8816-4558-80F5-0B59EACB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1쪽·표·PPT·화면 등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누가 어떻게 쓸 것인가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0A30D-3988-4587-AF49-12EC6DD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9AD4B-9772-4696-AD49-24533E58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제약·검증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7D567-362F-4342-B087-5AEA3FFE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경계와 완료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F9EEE-D08D-4371-9B38-7565AFB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바꾸지 않을 것·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확인·승인 지점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5041E-E000-440A-82A8-C9494610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4A4A4"/>
                </a:solidFill>
              </a:defRPr>
            </a:pPr>
            <a:r>
              <a:rPr sz="1500" b="0">
                <a:solidFill>
                  <a:srgbClr val="A4A4A4"/>
                </a:solidFill>
              </a:rPr>
              <a:t>목표·맥락·출력·경계를 기준으로 요청을 구조화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BF5A2-3CF5-496F-92BD-A3DF52E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3FE76-2ABC-47E8-84CB-7B8EC320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3 · 부탁의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0D5AB-67C0-4193-9AC1-92ADACB0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702689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07A92-0F52-4C0D-BDA7-AC96209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도구 선택을 쉽게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F490F-F8C0-46EF-B5FF-755C16F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Claude와 Codex의 기본 활용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FD25-3895-442C-A891-6AFB1900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대화 중심의 사고 정리와 저장소 중심의 실행·검증을 연구 흐름 안에서 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212CD-62DF-49F4-93F9-097F91C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5D52"/>
                </a:solidFill>
              </a:defRPr>
            </a:pPr>
            <a:r>
              <a:rPr sz="1200" b="1">
                <a:solidFill>
                  <a:srgbClr val="C85D52"/>
                </a:solidFill>
              </a:rPr>
              <a:t>대화로 생각을 다듬을 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E1978-1543-460B-9463-6213C667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클로드·대화형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88280-476B-43DE-9CB1-9136541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자료를 읽고 핵심 질문 만들기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아이디어·문장·구성 비교하기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첫 초안을 대화로 고치기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F646E-6C0F-4471-A85D-A16A951A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폴더에서 일을 이어갈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C8746-7DD3-4E39-A9CE-C7D8007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코덱스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E133D-F5F1-483D-A92E-DD064EE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여러 파일을 읽고 결과 파일 만들기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노트북·웹 시안 실행하고 확인하기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변경 내용과 검증 결과 남기기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C6DC7-25DE-4D3E-9004-843BCD26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7AA3B-9BCD-45B4-837D-79BA160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6866"/>
                </a:solidFill>
              </a:defRPr>
            </a:pPr>
            <a:r>
              <a:rPr sz="1500" b="1">
                <a:solidFill>
                  <a:srgbClr val="686866"/>
                </a:solidFill>
              </a:rPr>
              <a:t>도구 선택 기준: 필요한 산출물과 작업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D5679-C8A7-443C-9B92-A0DBE86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C2EB5-7FA5-42FA-A37A-1A53149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4CC9C-1BAB-4B8A-B9F3-3C676A29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684193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E1CB9-7137-48B8-B26B-EB352FD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모호한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9384D-B552-40A2-8623-6DA6D77F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범위가 불명확한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2B688-3040-4A46-B0B0-A3FFBB88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80B13-5099-4877-AFE9-C9AB9D3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무엇이 좋은가?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어디까지 찾는가?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무엇을 확인해야 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905B9-9EEA-4239-9FD9-C8131B93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연구 범위·선별 기준·확인 수준을 시스템이 임의로 추정하는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651B7-EDD7-4303-98D6-8935DDA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16D2B-750F-4F47-9E37-DBBA9264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3 · 부탁의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BAEC3-64A2-4724-B59B-EE7F73C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172193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9E0D1-3E30-4DD9-BFE1-DBEB54AE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구체적인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C1C57-0EE6-435C-88E5-973D923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범위와 검증 기준을 포함한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80D58-9D58-4EBE-8481-54C3CD0D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EAE7"/>
          </a:solidFill>
          <a:ln xmlns:a="http://schemas.openxmlformats.org/drawingml/2006/main" w="9525">
            <a:solidFill>
              <a:srgbClr val="CDCD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92CC5-3F61-44C7-966D-79F654E1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목표: 2020–2026년 영어 논문 후보 50편을 OpenAlex에서 수집한다.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맥락: workspace/01_research_question.md와 data/topic_keywords.txt를 먼저 읽는다.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제약: 제목·초록을 검색하고 실행일과 조건을 기록한다. 결과를 핵심 인용으로 확정하지 않는다.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산출물: data/papers_raw.csv와 data/search_strategy.md.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완료 기준: 50행과 필수 열을 확인하고 검색식·연도·언어·실행일을 기록한다. DOI 누락은 빈칸으로 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06378-1E30-40F3-9555-8130009B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핵심은 문장 길이가 아니라 선택 기준·산출물·완료 조건의 명시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6DE74-D0ED-4471-884A-EF87018E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0885C-54B9-4391-9226-0E91122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9876-30D4-4169-B177-1267B8A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356667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9D076-D704-447D-A441-F623AF35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검증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4E806-8EF6-4ED0-A4CB-817323BB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결과에 붙이는 네 가지 확인 표지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AF083-8EE4-46F8-BF8F-5A1B9677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모든 내용을 같은 확신으로 말하지 않으면, 연구자가 어디를 더 읽어야 하는지 바로 알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A59B9-BD03-4F74-97EC-23E81DB7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확인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7BF5E-F892-4C58-A2C5-51F8F72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원문 위치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F99E3-FEA2-48DF-BB18-C40B91DD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페이지·절과 내용이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직접 연결됨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22998-5027-4FFB-9B65-0A9FCE5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85D7A-9ADF-49EC-AA6D-7B2059B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초록만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FA71E-8ED0-487A-BFC8-803EB26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후보 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98722-15D7-4168-BB50-0CF3385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핵심 인용으로 쓰기 전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원문 확인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EDA3-A8C9-4B23-9189-D5B3F278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7E254-FBA1-4B31-A898-B59881D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확인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65241-2622-4469-BD09-97DD5E2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정보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08876-9B36-4457-BCD6-8B006BB8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근거 위치나 메타데이터를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추가로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DF2A7-CEB1-4F6B-AA4D-7022CF7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85C4-4348-4822-B51E-D07B93D4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제외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40581-3B88-4A33-95E8-C33DFF6F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이번 범위 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0F00D-3689-4210-822B-68CCA44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제외 이유를 남겨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같은 검토 반복 방지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63196-4F10-4756-BB79-CF9024D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모르는 내용을 그럴듯하게 채우지 않고, ‘확인 필요’로 남기는 것이 연구 품질을 지킵니다.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99492-F4CD-4CAC-8025-CF2EB4AD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1E6C6-ABE0-42E4-9BFB-8F55450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1C9F7-F09A-4DE4-A86C-782D34B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283969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15ED2-5537-44C1-BBC5-C8A6C54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함께 다듬는 대화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F72B2-3133-4A4B-B977-1256AF3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요청 품질의 반복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572EA-C4B6-4353-A313-711A1B6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첫 결과의 방향·누락·근거 상태를 검토하고 후속 요청으로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95BAB-F509-4FED-AD2D-C7428F2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57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DDEB0-D13F-4D3C-8169-14206EF7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2CC35-B53F-4FA6-87D9-E7B1F3AC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765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초기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0A825-6C6F-423D-ACD9-202265D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57651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목표와 산출물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우선 명시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35A56-4F35-4BEA-B0FB-EF155C85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552700"/>
            <a:ext cx="257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07637-9E97-4F6E-A2A0-B7C29DD9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933700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5215-B6BD-41A3-A8D5-5EE78BB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181350"/>
            <a:ext cx="25765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첫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03E61-B9E6-4CD9-8834-5384087D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019550"/>
            <a:ext cx="257651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방향·누락·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근거 상태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AF7B8-C668-4DB7-A513-B594AA07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52700"/>
            <a:ext cx="257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26BD2-7B3E-4156-BDE0-06E84F84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33700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AD502-B34E-4700-BBC9-F312A116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81350"/>
            <a:ext cx="25765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보완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4EC4C-C18C-4C21-99B8-FC67B8FF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257651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범위·형식·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검증 기준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13C66-B16C-42CA-8488-2167C7E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552700"/>
            <a:ext cx="257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DB296-C4D3-4E06-8416-5B73D88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933700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CF607-EFA9-4FE6-9A65-EECE5652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181350"/>
            <a:ext cx="25765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연구자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F347E-F6B2-4F34-A74D-FD6B0DF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019550"/>
            <a:ext cx="257651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핵심 내용과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대외 활용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BAB17-2187-4860-A474-2CECD1C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후속 요청은 결과를 기준에 맞게 수렴시키는 검토 과정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30EC1-7EDC-4311-AB67-DBD423E8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13067-B133-4D8D-927A-5B67ECB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A984D-16BE-476D-92D8-3DA75A4D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616310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CA48C-258D-4733-8396-90965D01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도구 권한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C873-46E8-4BD3-8489-6C271F8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읽기는 넓게, 쓰기는 정한 곳에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DD9C7-5061-47AF-ACB7-8854EEC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자료 탐색 범위와 파일 변경 범위를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8F32-CC08-4B96-842D-C7458118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5D52"/>
                </a:solidFill>
              </a:defRPr>
            </a:pPr>
            <a:r>
              <a:rPr sz="1200" b="1">
                <a:solidFill>
                  <a:srgbClr val="C85D52"/>
                </a:solidFill>
              </a:rPr>
              <a:t>읽기 — 기본 허용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00A8-AB0A-406B-82D4-44363860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자율 탐색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87D99-7D7F-4BD9-9013-2251F702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저장소 파일 읽기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공개 자료 조회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현재 상태와 변경 내용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EC948-AC1A-424A-9079-CDCC622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쓰기 — 범위 명시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C93B3-CBC9-42D8-8C5D-1B4C9CA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승인과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DECB5-8A8A-49A4-B1CC-C3398EA2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workspace/ 아래에만 생성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원본 덮어쓰기 금지</a:t>
            </a:r>
          </a:p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• 외부 전송·삭제는 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88912-5CCC-4FAF-B178-A7E88E5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F3E92-B7A9-4924-A0D9-929FAE3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6866"/>
                </a:solidFill>
              </a:defRPr>
            </a:pPr>
            <a:r>
              <a:rPr sz="1500" b="1">
                <a:solidFill>
                  <a:srgbClr val="686866"/>
                </a:solidFill>
              </a:rPr>
              <a:t>예: ‘저장소는 읽어도 되지만, 새 결과는 workspace/ 아래에만 만들어 주세요.’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5D346-4BCD-4BB3-A61D-4F292846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A81BE-4173-4F2A-913D-5E6F03A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56D4F-4A1A-4AC2-8559-18F6427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582957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71D72-B552-4E8F-A05B-EA196A9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반대 관점 검토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11D8D-F361-4F14-BFE3-45CDD20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생성 요청과 비판적 검토 요청의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8CB38-B316-491D-8F90-BBAFF15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1B99-FA8B-477B-832C-8FD1503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초안을 옹호하지 말고 탈락 위험을 먼저 찾아라.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검사:</a:t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- 인용이 없는 사실 주장</a:t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- 출처보다 강한 과장</a:t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- 초록만 확인한 문장을 원문 확인처럼 사용</a:t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- 관련은 있지만 직접 지지하지 않는 약한 인용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1F1F1"/>
                </a:solidFill>
              </a:defRPr>
            </a:pPr>
            <a:r>
              <a:rPr sz="1500" b="0">
                <a:solidFill>
                  <a:srgbClr val="F1F1F1"/>
                </a:solidFill>
              </a:rPr>
              <a:t>출력: 주장 번호 · 위험 유형 · 근거 · 수정안 · 사람 확인 지점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5086B-839B-4AB3-A719-2E853CA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초안 생성과 오류 탐지를 분리해 검토 편향과 누락 위험을 축소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EA982-12FA-4897-BBF0-027B7CD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92618-DDBE-43B5-9774-0F5F72F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3 · 부탁의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16D00-F5E6-49BA-B66D-2B60BC13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061624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C45BBB-264A-42AA-A199-5635F99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학생지원 서비스 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B8FD5-00FB-4A53-8A89-E6C75EF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학생지원 서비스 후보군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3044-99C3-4A41-8E0E-43057034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학생 문제·검증 가능성·안전성·재사용성을 기준으로 MVP 범위를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BC2F-B20F-4C27-8273-7C4E94F4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01 · 추천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526C5-D26A-4AB6-8DC3-6F440BD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이번 주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학습 길잡이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2B70-39E2-44ED-85F7-B4B6160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목표·할 일·다음 행동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사람 도움 요청·회고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자동 평가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6F3E-93D6-49F2-A8D4-F700D78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3A5A4-CB9D-41BC-99F7-CF9DC50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40B75-5A2D-405F-ADD9-31450F9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쉬운 콘텐츠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동행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3DBB9-FDED-40C2-BB8A-3ED7ADD6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어려운 문장·용어·활동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더 쉬운 설명과 대체 형식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전문가 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3D72-CEF0-4E69-BC71-6F281E4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3E740-6BB0-40D0-98E0-22C4231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B5C4D-F86E-424D-BFB5-D6EFE8CF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사람 도움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연결 길잡이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7B4A3-2716-4ED6-889B-2DA26DED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질문 유형과 맥락 정리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교사·운영자에게 전달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해결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58DFF-660F-43A7-8CDA-8D23E4F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C8466-7A75-413A-8698-FCCFE11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006BF-CFA6-42E8-A5FB-E0A2835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학생 목소리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요약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37285-5A4A-424E-A65B-A8E1EB7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비식별 불편·만족 의견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주제별 개선 후보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원문과 함께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9A7CE-C039-41EE-89F9-ADAA096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후보의 공통 원칙: 학생을 판단하는 AI보다 학생이 이해·선택·도움 요청을 더 잘하도록 만드는 지원 도구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F6463-D832-4A0E-BC78-AC927740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2E358-5031-491D-B743-B83E1E0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778A8-2CE9-4154-9B1E-CCCF9E7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0730215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877D2-D887-4AE3-8E99-7AB3531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MVP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C02A-1976-42B0-8847-7E04478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첫 시안은 네 가지 기준으로 선택합니다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3C558-114F-4415-8C5E-C706FE5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학생에게 도움이 되고, 작게 확인할 수 있으며, 판단 위험이 낮고, 다른 사업에도 배울 점이 있어야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AAC57-FC99-440A-A3A0-A2E5A5A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학생 가치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2FDE0-A74D-4B45-842B-EEC10CB6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오늘 바로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도움이 되는가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32144-BEC9-49DF-B749-6027B68E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다음 행동이 선명해지고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막힐 때 사람에게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연결되는가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E1425-4F13-47D5-B382-4294DF42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F8B45-DB2F-4133-AD0D-944F468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검증 가능성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8DF5C-A2AD-4C26-8BEB-1D978125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4주 안에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확인 가능한가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BAC7-4F1B-4D9E-AB8A-C5D59CE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가상 자료 → 내부 5명 →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승인된 소규모 사용성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실험이 가능한가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8C87E-826C-47A7-97BC-B48777D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D39E2-7EE3-4934-A482-B8E701F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안전성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F1A57-A834-4DEA-AA12-263DEDD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판단을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최소화했는가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A0C67-3260-4F64-9A04-1615526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자동 채점·위험 예측·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민감정보 없이도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가치를 확인할 수 있는가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B3DF1-7125-425F-8D83-20B60C8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9D676-2994-40C0-9AD4-0367EFA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재사용성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86BB4-4561-4B10-85ED-022305A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공통 흐름을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확장 가능한가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8C09D-A644-4616-90B9-F14A7C5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목표·실행·도움·회고를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사업별 맥락에 맞춰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다시 설계할 수 있는가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018D3-56E4-48EF-A967-2D757195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워크숍 점수 예시: 학습 길잡이 19/20 · 쉬운 콘텐츠 16/20 · 사람 도움 연결 15/20 · 학생 목소리 16/20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E7BFF-3C2B-447F-B8CA-4BD189E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122E3-6D92-4912-B2CB-AC1C0352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073E3-E85F-4603-9E4D-940313C4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9744467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57A7B-2BF6-43C1-BE0A-1687DAE0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추천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58785-D961-4E08-A370-47F7212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첫 추천: 이번 주 학습 길잡이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B8D79-2643-410C-98E7-017227F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229EE-B1F7-4543-B9F0-7E94DA67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목표 → 작은 실행 → 사람 도움 → 회고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0C58D-148B-4DD2-86C1-5535662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학생을 평가하지 않고, ‘지금 무엇을 할지’와 ‘막히면 누구에게 물을지’를 함께 보여주는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E1D6A-048E-4FB7-8CE1-2D15062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0396-9D1E-497E-BFCB-46BC8A8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3 · 부탁의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72C04-429A-49EB-B7CB-7F1D590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2782827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768CD-35E0-422D-82F2-1440DDCF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1쪽 PRD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C0797-8A79-434B-8CA8-E8B01F45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1쪽 PRD: 문제와 성공을 먼저 합의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720E6-A845-4015-9DBE-826B737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기능을 많이 적기 전에 누구의 어떤 어려움을 줄이고, 무엇을 하지 않으며, 어떤 변화로 판단할지 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A399-9526-4122-AAF6-6042A74D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1ED9E-1B28-41AF-8BF7-8AB43E92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다음 행동과</a:t>
            </a:r>
          </a:p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질문 경로의 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31C23-7557-4AD9-9503-CEF1C81F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학생이 지금 할 일과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도움을 요청할 방법을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찾는 데 추가 부담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B07E-F3E8-4EA6-924E-00FA0DB7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E220F-F2DD-48C9-BCF1-BCD145C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작은 예상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49A2B-18D8-4801-9F2E-00C8E7C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작은 행동과</a:t>
            </a:r>
          </a:p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사람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112F9-8F69-4604-A2C0-CB26101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계획–실행–회고 순환과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필요한 지원의 적시성을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높일 가능성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F897D-6EC5-4070-88AD-B58016E6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2A523-9B36-4A5D-A0A7-439C7A2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하지 않을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8E464-7768-4F55-A184-94B0CA5B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평가·예측·진단</a:t>
            </a:r>
          </a:p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자동 조치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552C4-BDE8-4E15-98AD-8958770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성적·순위·위험 낙인·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건강 상담·민감정보 전송·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사람 승인 없는 조치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38C19-8AAB-46E7-8E4C-661586FF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928CB-D553-4E83-8F65-3DCDC33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확인할 변화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C4D59-FB2F-431E-9F00-E27F7797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완주·해결·이해·</a:t>
            </a:r>
          </a:p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안전의 동시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9E41E-EC08-4C30-ABE0-D4B378C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계획–실행–회고 완주·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도움 해결·명확성·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오류·접근성·안전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69E19-1479-4674-9F2E-CBC1EAC3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핵심 기능은 문제와 지표를 연결하는 데 꼭 필요한 것만 남기고, 나머지는 이후 실험으로 미룹니다.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63233-BBA0-4EC5-ACB3-D5A05E5D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8697-66F7-4AF2-B60F-7204C6D7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3 · 부탁의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AA81A-1BB6-4DD3-A4E8-50F31A8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432243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E340F-E480-4371-A92D-454CE4D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06683-5663-4014-BADC-D300F8F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72333-3833-4D68-ADD4-AA6ED435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두 가지 화면으로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가능성을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FA401-0D0B-47DE-B61D-DCD0C7C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먼저 학생지원 시안을 보고, 이어서 Research-agent에서 질문·검색·근거가 파일로 이어지는 모습을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3E888-95A0-4F72-8559-8502361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7E7C2-0B2F-4292-BD24-ACE8075E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4 · 화면으로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604AE-4F74-42D6-8477-8B829BB5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759629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F53F9-DA50-4E5C-96B2-CCE1CBB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학생 사용자 여정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279C9-FFB9-402A-A46D-C71115C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학생 화면의 다섯 핵심 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93681-856B-4CC0-9292-6AB7B654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목표·활동·다음 행동·사람 도움·회고로 학생지원 흐름을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AFF85-5366-4EE3-A7FA-BB7CC9C3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DB0E-B799-47A7-A498-E524519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4EA2-BA99-4604-A359-ADE9E37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목표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8A446-D116-4394-AB6B-7905C64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이번 주 한 가지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학생이 직접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F6DA-ACF6-4FA9-9EC4-EBB8B403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2CDAE-C14D-4A0A-AA75-2B811E2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624EA-AF96-411D-8E49-F0B05F16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작은 활동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A29D0-6E34-435E-A7D7-A75FC4A1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5~20분 단위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오늘 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FF242-41AE-4444-AF57-EBF4036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47293-6D30-43D2-B49D-52CD37C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63105-9BD5-48B6-A3C0-6D21A6C9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다음 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BA376-DCF6-45D1-A929-D48473D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자신감에 맞춰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시작 크기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27AEF-49B0-4025-A209-54C4335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5BF8E-D982-4F43-9B85-F0F67BE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62240-629F-4039-86EF-ECFD7C8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사람 도움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D5236-8BC0-4DC3-A9F5-2FC7229D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질문 문장 확인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담당자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FE2E7-38C1-449A-ABC9-15ADF53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67402-17F3-4DCF-866F-C39DC186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96A62-C2DF-4F11-B40B-61A1E7C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한 문장 회고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5EABD-3BAC-4D56-93D4-8AA527AB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잘된 점·바꿀 점</a:t>
            </a:r>
          </a:p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다음 주 반영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0183D-0529-4FF5-BFA3-DC283CB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화면마다 ‘학생 선택’과 ‘사람 연결’을 남기고, 자동 채점·등급·지원 자격 판단은 넣지 않습니다.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97E85-CF58-4311-BE9E-74D6C47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76056-C9AC-451C-B4B0-CFC459D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DFD1C-C1C4-4882-9CF7-90E8832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045713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4B370-0CA0-4F9A-AD4D-49D78F3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작동 시안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410AE-C415-4E9E-AE33-E809E81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목표·오늘 할 일·다음 행동이 한 화면에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14B4C-D8D9-452D-AF40-AFB7B9F1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AI 기능을 연결하기 전에 가상 자료와 간단한 규칙만으로 화면의 순서와 문구부터 확인합니다.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b7d08f6204d79"/>
          <a:srcRect xmlns:a="http://schemas.openxmlformats.org/drawingml/2006/main" l="0" t="17938" r="0" b="17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87E5-D8B9-4612-B1D1-982C29A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43342-FB29-4F43-A6B8-FB2BAABC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학생 선택 · 작은 행동 · 사람에게 도움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FB533-C92F-450D-87C4-68CDA58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866"/>
                </a:solidFill>
              </a:defRPr>
            </a:pPr>
            <a:r>
              <a:rPr sz="975" b="0">
                <a:solidFill>
                  <a:srgbClr val="686866"/>
                </a:solidFill>
              </a:rPr>
              <a:t>강의 제안용 로컬 프로토타입 · KEDI의 현재 운영 서비스가 아님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36104-5D8E-4419-8C82-D1F4E9E0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12C53-F99A-4C33-A8B9-71767879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55D61-A7F5-4FB0-BDC8-DE7C18F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0841343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35167-2B6B-46FD-A60B-932419A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성과·품질·안전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5B336-31E7-4086-967D-58379673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성과는 완주·도움·이해·안전을 함께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32E10-4F97-46BF-9BAD-C253FA68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많이 눌렀는지만 보지 않고, 학생에게 실제 도움이 되었는지와 위험이 늘지 않았는지를 함께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CD61-6FE6-4500-B04F-3EC7E99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중심 지표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7DEEB-028C-4A28-A72F-E5C9FD9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계획–실행–회고</a:t>
            </a:r>
          </a:p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주간 완주율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FB176-AE08-4651-A944-7AAB1E4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목표 선택 + 활동 1개 이상 +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한 문장 회고를 7일 안에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모두 수행한 참여자 비율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73402-EF76-4B32-B6C2-AC526DDD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DFC66-40AE-4D4B-BA6B-82A1C46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1231D-D56E-418E-B022-75737A9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학습 지속과</a:t>
            </a:r>
          </a:p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도움 해결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71AB5-E591-4F6C-AFCB-456C044F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핵심 활동 완료 변화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도움 요청 해결률·시간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다음 할 일의 명확성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4E3D9-FB21-4F7A-9CFA-EC7AECC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AEDA7-ADBD-4A41-9172-5836AC8C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4998E-3CCB-4CA9-80EC-D5DE0D6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이해 가능성과</a:t>
            </a:r>
          </a:p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E6EF8-DFE0-4842-9A62-F4D3054D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추천 문장 이해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잘못된 다음 행동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중대한 접근성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462AC-8A2B-4E1F-B75F-1A25E14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E8A1B-F25F-4960-8A06-DA96FD6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2669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안전선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A4084-6698-4680-85AF-5B569D38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670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자동 판단 0</a:t>
            </a:r>
          </a:p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사람 연결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44E86-9597-4CA4-B02D-722977EF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5242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실제 민감정보 0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자동 불이익 조치 0</a:t>
            </a:r>
          </a:p>
          <a:p xmlns:a="http://schemas.openxmlformats.org/drawingml/2006/main">
            <a:pPr algn="l">
              <a:defRPr sz="1350" b="0">
                <a:solidFill>
                  <a:srgbClr val="686866"/>
                </a:solidFill>
              </a:defRPr>
            </a:pPr>
            <a:r>
              <a:rPr sz="1350" b="0">
                <a:solidFill>
                  <a:srgbClr val="686866"/>
                </a:solidFill>
              </a:rPr>
              <a:t>모든 도움 시나리오에 사람 경로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22397-5A99-4EF7-A552-3F337FA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수치는 현재 성과가 아니라 파일럿 전에 합의할 측정 정의와 초기 통과 조건의 예시입니다.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044F7-6DAD-44CC-A8FD-B87A6E1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940DB-15E9-4C22-BE8F-6733B85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0E6FB-B19F-47AE-AD42-6BAFA99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816242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FF903-EADF-4F35-980C-412A964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노트북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874A-8B8F-46F0-BCEF-06BC1645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연구 화면 1: 질문을 검색 조건으로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604B2-FA56-4857-87D9-B0551D1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첫 노트북은 막연한 관심사를 연구질문·핵심어·기간·언어처럼 다시 확인할 수 있는 조건으로 정리합니다.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4f1f78ccc4b2d"/>
          <a:srcRect xmlns:a="http://schemas.openxmlformats.org/drawingml/2006/main" l="0" t="17293" r="0" b="17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F6D7D-BCA2-4BE2-B764-CADE74EE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0C68-13FF-4112-9458-AB286E5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연구질문 · 검색식 · 핵심어 · 연도 · 분야 · 언어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85D87-E8EB-4E85-A623-28145922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18D0E-9E54-4EE4-B1BA-8C99DEAE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4BADF-CA92-413D-B67A-081BEEBC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9259829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29300-83D5-4201-B65A-F692992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첫 산출물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85141-1AE9-46A3-9B4D-DCD906A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다음 노트북이 읽을 짧은 기준 파일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568F2-9C5A-4993-9BE2-2FA83CB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AEAE7"/>
          </a:solidFill>
          <a:ln xmlns:a="http://schemas.openxmlformats.org/drawingml/2006/main" w="9525">
            <a:solidFill>
              <a:srgbClr val="CDCD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9BE84-8060-4422-AB90-996983B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TOPIC_KO=교육공학에서 AI 기반 형성적 피드백이 자기조절학습에 미치는 영향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RESEARCH_QUESTION=How does AI-supported formative feedback influence SRL...?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QUERY=AI feedback self-regulated learning educational technology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FROM_YEAR=2020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TO_YEAR=2026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SEARCH_FIELD=title_and_abstract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LANGUAGE=en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1E7A-17C0-4B9B-86A9-4CF445A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노트북마다 앞 단계의 결과를 파일로 넘기면, 사람과 코덱스가 같은 기준에서 다음 일을 시작합니다.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7CC7E-EBBB-4D65-9019-3B6A769B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B1722-1B93-4DBF-9B4F-ADA207D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45BBB-8656-493E-B966-A1AEBCA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87471101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A731C-6C5E-482A-8374-61AD583A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노트북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9CF68-0836-49C4-B1F0-FF3D58D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연구 화면 2: 검색 조건과 실행 날짜 남기기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3E152-08B6-41DA-887D-CC17F49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무엇을 어떻게 찾았는지 기록해야 결과가 달라져도 이유를 설명하고 다시 실행할 수 있습니다.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e0377ab77464c"/>
          <a:srcRect xmlns:a="http://schemas.openxmlformats.org/drawingml/2006/main" l="0" t="17293" r="0" b="17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C2C63-4342-466A-9941-EF8AB563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45D71-CD40-4ED4-B5F1-C48D830A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검색 조건 · 페이지 이동 · 실행일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13D26-9F81-4A4A-A320-6A5518E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A27D4-0081-4239-B5C9-1F3113B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FBE50-FC45-42CC-914B-58CE47E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80007111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ED933-D32A-4994-9908-0356DD2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검색 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42FE5-C292-4498-9EB8-5C2BCA3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검색 기록이 있어야 나중에 다시 설명할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33187-9EE4-45D4-961A-F93CFE2A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검색 내용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507B-028F-4AAE-B4FA-A0A9575C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검색식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26EC-D847-4EAF-A06E-A09CF3C7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키워드와 검색 필드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97E27-D43B-4394-86EF-88787A8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B3E90-3084-44FE-A2E3-16FC036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실행 시점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2419A-A922-408F-96AF-E1556EF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실행일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7A26C-BDE3-41BE-A2EF-F477F77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검색 실행 날짜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0706A-B5EA-4F1B-ACC5-F6227337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35283-D64E-4963-B601-52F2CA8E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검색 출처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A448C-4AD5-49D0-A647-3E47AA0C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출처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916FF-D3D3-47DE-AD59-8BE05E9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OpenAlex 논문 검색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83075-9C03-4F3A-A1FB-D16F0A84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91302-4EDC-42B2-9A00-0CE0CAB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적용 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906C-7D38-4D27-B68E-5ADDB56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검색 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0AB90-C7A8-4B3C-96E2-C9BA739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연도·언어·페이지 이동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1A9B5-4630-455B-A89D-91DA90EF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결과 파일만 남기지 않고 검색식·기간·언어·실행일을 함께 남깁니다.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37C17-DEDE-4C61-B184-A092AECA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503EF-1BFB-4210-93C4-C4655D9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9F060-BBAD-4723-952C-FB3F4E3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512450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47E53-1CF6-4347-98E6-22A18388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검색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D967A-68EC-492A-A32B-A1E20BEE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50편은 답이 아니라 읽을 후보입니다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DF3B1-64A6-4E22-8961-AF84827D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검색 서비스는 넓게 모으고, 연구자는 원문을 읽으며 핵심·보조·배경 문헌을 결정합니다.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3e0b531044e19"/>
          <a:srcRect xmlns:a="http://schemas.openxmlformats.org/drawingml/2006/main" l="0" t="17293" r="0" b="17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1CAAF-FAB8-4B95-9462-DE3B43C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68230-1223-456F-97E0-06250C5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50편 수집 → papers_raw.csv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D8E28-9346-492C-86DA-0006600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872D7-6A04-4AA3-A4CC-BD8A00D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B944C-7BA2-4C69-B2F3-2885925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32032842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39E93-5E87-40B4-889B-96CCA08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검색 잡음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78E90-CEBD-4AF2-8DC1-265ECB5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관련성·품질·인용 가능성은 서로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7F676-FBDB-4ED0-B17D-AB868D52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5D52"/>
                </a:solidFill>
              </a:defRPr>
            </a:pPr>
            <a:r>
              <a:rPr sz="1200" b="1">
                <a:solidFill>
                  <a:srgbClr val="C85D52"/>
                </a:solidFill>
              </a:rPr>
              <a:t>후보 목록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1B618-50AF-458A-B287-285141E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메타데이터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9DBB-0923-4220-BEC4-DC859F9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제목·초록 일치</a:t>
            </a:r>
          </a:p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인용수·연도</a:t>
            </a:r>
          </a:p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학술지·공개 원문 링크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D9692-4952-477E-9B73-DA417F60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10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1F716-DA75-4F5D-AA24-0CE9A20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10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원문 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0B9D4-FC4B-4BFF-8A60-E5F9A49B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5105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방법과 표본</a:t>
            </a:r>
          </a:p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결과와 한계</a:t>
            </a:r>
          </a:p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• 페이지·절 직접 지지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EB39-AF60-4DCA-A601-7C6AAF8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1E0D0-65F9-4BBE-A4BE-CEF87B7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4A4A4"/>
                </a:solidFill>
              </a:defRPr>
            </a:pPr>
            <a:r>
              <a:rPr sz="1500" b="1">
                <a:solidFill>
                  <a:srgbClr val="A4A4A4"/>
                </a:solidFill>
              </a:rPr>
              <a:t>제목이 비슷하다는 이유만으로 좋은 연구나 핵심 인용이 되는 것은 아닙니다.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2C08-ED81-4FC6-ABC4-D042AD8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4574D-EBD0-4BA0-8B7F-B297F7CE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4 · 화면으로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D003-8944-4D3F-9C5F-BCC6439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1070010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4A51-C8A5-4E2B-B83F-4AE8200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노트북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D3683-C154-4E22-A85F-532742E2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점수는 읽을 순서를 돕는 참고입니다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2F07F-99CE-4D84-9C08-1568C74A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25%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F62D2-C211-4804-8846-C694EDA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인용 백분위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4FC37-4E25-4D4B-BCD6-957AA2F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피인용 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(cited_by_count)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7179C-8EB1-4EBE-BFEF-75B9C44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DE080-4D3A-44EA-92AF-B69BB1C1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5A144-87A6-4757-B7DF-89E22703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연식 보정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EB105-29A2-4939-826E-1A66F2EA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연평균 인용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(citations_per_year)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C5F27-2B59-4CF0-99AC-90451F54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58F05-542E-47F8-A78F-65C5CA1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39D84-0335-4257-9675-1D660C9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주제 관련성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1875B-5BD2-423A-A806-583B07E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핵심어 일치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(keyword hits)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0752C-E0C9-437A-99D7-BAA4AFB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726E7-B49F-4F5F-ACC4-ACAE9D5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A6702-D332-4C05-9229-B9C8308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기타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FBD1D-52BC-4BAE-8A41-6469E38A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최신성 15 + 학술지 5 + 초록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63D28-52F4-4887-9AB9-AB1CC2C4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점수는 시간을 배분하는 도구이고, 핵심 문헌 여부는 원문 검토로 결정합니다.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622C3-EB5D-4906-A1A6-9B76443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68841-C256-40D3-BB85-1CEC057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5D901-6C65-4ADE-85AB-89A9204C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4117720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1C047-FF77-4A8F-ABBF-BA9B3946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검토 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56C5C-B65B-427E-8A26-86CBB88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표로 보면 다음에 읽을 논문이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E9B62-706E-4406-A97A-5211F74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제목·연도·점수·초록·원문 링크를 한곳에 놓고 검토 순서를 정합니다.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0ebb5098b4050"/>
          <a:srcRect xmlns:a="http://schemas.openxmlformats.org/drawingml/2006/main" l="0" t="17293" r="0" b="17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360FA-7006-494F-803B-5882C111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439A-3AAA-4CF2-9E71-BD17EBF0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품질 점수 ≠ 진실 · 읽기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FE209-C3D6-4BBB-B486-8B91D7DE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5D219-E1DC-43F8-8558-624FE95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D436F-C6E8-4684-A106-C7EC28C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491965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75DDD-ECA0-4C02-99AD-ED547B9F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환경에 반영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A822E-2574-47FF-BA3F-1DF019C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실패를 찾으면 요청보다 확인 절차를 보완합니다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6518E-E856-409C-BF17-711E741B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91863-C661-4CAE-AF85-D02E6DD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# invariant</a:t>
            </a:r>
          </a:p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assert keyword_hits({"title": "AI tutoring", "abstract": ""}) == ["AI"]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# CI gate</a:t>
            </a:r>
          </a:p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python -m pytest</a:t>
            </a:r>
          </a:p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python scripts/check_notebooks.py</a:t>
            </a:r>
          </a:p>
          <a:p xmlns:a="http://schemas.openxmlformats.org/drawingml/2006/main">
            <a:pPr algn="l">
              <a:defRPr sz="1650" b="0">
                <a:solidFill>
                  <a:srgbClr val="F1F1F1"/>
                </a:solidFill>
              </a:defRPr>
            </a:pPr>
            <a:r>
              <a:rPr sz="1650" b="0">
                <a:solidFill>
                  <a:srgbClr val="F1F1F1"/>
                </a:solidFill>
              </a:rPr>
              <a:t>git diff --exit-code data/search_strategy.md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7DBA-7E3B-402F-8EAA-585AE95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같은 오류가 반복되지 않도록 테스트와 기준 파일에 남기는 것이 연구 환경 개선입니다.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1909-FF05-4FD1-AF4B-E7E8929D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7788D-1132-45FF-BC70-23E5F3C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F6575-E3A3-4838-989C-F8E896F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30082165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E23BE-79CE-44BB-A09C-BB9D8BD3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노트북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E24DC-8904-4850-862E-502B945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후보를 다음 사람이 읽을 자료로 정리합니다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B24FC-F0C6-42D1-B8B4-15DCF990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마지막 노트북은 상위 후보와 주의사항을 표로 정리해 다음 검토자가 바로 이어서 읽게 합니다.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8df766cb243ae"/>
          <a:srcRect xmlns:a="http://schemas.openxmlformats.org/drawingml/2006/main" l="0" t="17293" r="0" b="17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108204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0672B-501D-4DE3-B6F4-85EB43FE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C5F3D-8700-4280-8C2B-797C0B5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346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상위 15편 → 표 형식 → 다음 작업 지시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64B3C-9012-4B3D-A487-3756DE5E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5C7B9-B7B4-4481-93C9-3D470CCC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4AA5E-AC2F-4933-ADAE-25A1A89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04800600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1C29D-ADC3-459B-A420-F5CBAAA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사람의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029C9-9A8E-4656-8BA5-9668719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핵심 문헌은 반드시 원문을 읽고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FBB56-A78F-4C60-8D74-3041004F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20A4-6BD6-4A31-ACAA-61697D87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점수는 읽을 순서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원문은 인용의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B949C-1BD9-44A8-A0CA-5459108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코덱스는 후보와 확인 목록을 만들고, 연구자가 원문 위치와 의미를 직접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F2AE-4BAF-405B-8606-EB50A53B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A933B-1E18-4BB6-9FA0-79AAEFF8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AF2C2-3AE4-41C8-8986-9FEF1AC3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2222182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00579-3334-47AE-A68F-6D87E985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PDF 분류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A7255-F5A3-45E0-9E10-83895AA0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PDF도 읽은 상태에 따라 정리합니다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60E9D-68F6-4DA1-9A1A-DD73BF45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00EEA-F531-4C30-8078-79D815EF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9339-03C9-44BB-99F9-A0F2B38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00_inbox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946E0-031D-4D54-A471-50FBBCE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새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2866A-0750-4709-AF62-C7F9DE6A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3241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FDC0C-7456-440B-A46A-9C0B85A6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7051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C4FE4-345C-43A1-BDB3-19F3D46B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9527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10_core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14E29-CEE3-49D2-A31C-0E1B738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7909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직접 읽고 핵심 인용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3F444-C493-40D5-B850-5C39E23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3241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B9E1C-685D-46EA-80E3-8609B1A8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051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233C8-271C-4CEB-A0FC-1E8AC7D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527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20_supporting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B628C-863D-489B-93D4-EC2EC2A6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7909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보조 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63F09-4C3B-47F0-8F20-A9AD836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3241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60FB7-6351-459E-AD26-3DCE81D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7051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2B9D3-885D-4301-ADA3-9377E0C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9527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30_</a:t>
            </a:r>
          </a:p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background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D87A3-C5B1-4465-998D-4A203911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7909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개념·맥락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CD023-4E39-46BB-A9A1-7345D0FA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3241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0A0A2-A259-41D0-9324-F78EFCDF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7051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181E5-AEAA-4ED8-B623-8E7E2E5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9527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050505"/>
                </a:solidFill>
              </a:rPr>
              <a:t>90_excluded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D698F-2500-4A47-8477-43192EBB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7909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검토 후 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26751-70B5-4C6E-913B-D99264E7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핵심·보조·배경·제외 폴더는 서열이 아니라 지금까지 확인한 역할과 상태를 보여줍니다.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54269-218B-48B5-B667-5C0F04C9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2CC78-916D-43EA-A4EC-483F1A6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68F25-9732-42D2-9682-B1975792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3008572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74A3-0EB9-4F5F-BE7F-8965F8A0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근거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54B04-C83D-491A-95B5-62AADED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주장마다 출처와 원문 위치를 한 줄에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32CBD-8C98-455D-81A0-7743214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EAE7"/>
          </a:solidFill>
          <a:ln xmlns:a="http://schemas.openxmlformats.org/drawingml/2006/main" w="9525">
            <a:solidFill>
              <a:srgbClr val="CDCD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46855-5ACC-4D5B-8068-F379579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주장 번호, 출처 번호, 근거 유형, 페이지·절, 발췌·요약, 확인 상태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C-014, P-003, 실증 결과, 12쪽 결과, "...", 확인 완료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C-015, P-007, 이론, 추가 확인, "...", 초록만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F4233-6F30-47CB-82CB-73B701A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원문 위치가 없으면 ‘확인 필요’로 남깁니다. 빈칸을 허용하는 편이 근거 없는 정밀함보다 안전합니다.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A41B1-5C7B-4BE6-A03D-160F52B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A98AB-61F1-4879-BD4D-4FC53322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C8CBE-7109-4BED-8650-35DE56F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93169824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A8A35-FF5C-40B5-A75F-3F6189A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근거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628D6-CD06-4403-83D6-0706466C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한 문장도 근거까지 따라갈 수 있게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3DD3C-A2AA-4F7A-9D2D-26FCADCA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공동연구자와 검토자가 같은 문장의 출처·위치·지지 수준·확인 상태를 함께 볼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04BD6-07E8-4047-9105-D22BD4F8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712B1-67B9-4C30-809E-38A6EE9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9F2DB-26E8-4AD4-9047-474B56A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원고 문장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B9CE4-CDB2-4E3C-93E3-AD855958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원고 문장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EE2D8-9FF1-4940-9595-18562F18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F1A6F-9C52-4F3C-A302-C520477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63B54-8F61-4E96-A0B0-748DDD45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출처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CB99A-9CBC-4C22-8231-40830B9D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논문·데이터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4FDC-8B85-4833-B6CA-1C419D37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C3995-6569-4F01-B810-E3628A0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7BA3D-9254-43DB-A97C-105B4504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원문 위치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72310-A0E5-4E02-B22F-76D82D6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페이지·절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CD88F-6348-4C4A-B514-94C32CA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52F66-E121-4865-B43C-3B687F2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DA06A-12A7-4BED-86E8-2383C202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지지 수준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5A830-7B64-4069-A2E1-A85B377E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충분 / 일부 / 약함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C6509-9D5D-4C8D-A753-190F9A03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552700"/>
            <a:ext cx="20269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D8842-6171-4F14-A0FE-12D1469F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933700"/>
            <a:ext cx="20269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D6F2E-7805-4B5C-9EEF-0A761A15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181350"/>
            <a:ext cx="20269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검증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39788-C65E-4C14-BF22-01203CE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19550"/>
            <a:ext cx="202692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4A4A4"/>
                </a:solidFill>
              </a:defRPr>
            </a:pPr>
            <a:r>
              <a:rPr sz="1425" b="0">
                <a:solidFill>
                  <a:srgbClr val="A4A4A4"/>
                </a:solidFill>
              </a:rPr>
              <a:t>확인 완료 / 추가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7AA83-738A-4668-B473-7130841C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696E1-F6CA-4294-B80A-72AB53A5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4 · 화면으로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FA613-1CAA-422B-9CEE-DFE8E80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40377202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6EFBA-E3D1-4372-8A8E-5C6E738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실습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AF061-F801-4C55-A73C-4C86FDAC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6분 실습: 노트북 하나 실행하고 바뀐 파일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4C0B7-0930-44A3-8E29-BEB2E604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입력–실행–산출물–후속 활용의 연결 구조를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FFD27-2FAF-4D72-B22E-EE07803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노트북 한 개를 위에서 아래로 실행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새로 생기거나 바뀐 파일 이름 확인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• 그 파일이 다음 단계에서 어떻게 쓰이는지 한 문장으로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91E18-5181-4A19-8293-6ABB4932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실행 환경이 제한되면 캡처를 사용해 동일한 구조를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76F78-E0BC-49A0-A7A1-C9275C77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52C36-8FDC-4A4B-8B5C-49C1066F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B3DD5-7968-4490-8FA3-7E91BC7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74173596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22D84-7ECE-4EFC-8BDF-DF19700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웹 공유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8B314-FCDA-4AE3-B0C4-025C3D8B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검토자 공유를 위한 임시 웹 주소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73074-917B-4E87-962F-30EE07B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EAE7"/>
          </a:solidFill>
          <a:ln xmlns:a="http://schemas.openxmlformats.org/drawingml/2006/main" w="9525">
            <a:solidFill>
              <a:srgbClr val="CDCD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5EE84-CCA8-476A-9A37-2712A859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287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616"/>
                </a:solidFill>
              </a:defRPr>
            </a:pPr>
            <a:r>
              <a:rPr sz="1650" b="0">
                <a:solidFill>
                  <a:srgbClr val="161616"/>
                </a:solidFill>
              </a:rPr>
              <a:t>$ cd workspace/lecture_20260807/prototype</a:t>
            </a:r>
          </a:p>
          <a:p xmlns:a="http://schemas.openxmlformats.org/drawingml/2006/main">
            <a:pPr algn="l">
              <a:defRPr sz="1650" b="0">
                <a:solidFill>
                  <a:srgbClr val="161616"/>
                </a:solidFill>
              </a:defRPr>
            </a:pPr>
            <a:r>
              <a:rPr sz="1650" b="0">
                <a:solidFill>
                  <a:srgbClr val="161616"/>
                </a:solidFill>
              </a:rPr>
              <a:t>$ npm run dev                    # 내 컴퓨터에서 확인</a:t>
            </a:r>
          </a:p>
          <a:p xmlns:a="http://schemas.openxmlformats.org/drawingml/2006/main">
            <a:pPr algn="l">
              <a:defRPr sz="1650" b="0">
                <a:solidFill>
                  <a:srgbClr val="161616"/>
                </a:solidFill>
              </a:defRPr>
            </a:pPr>
            <a:r>
              <a:rPr sz="1650" b="0">
                <a:solidFill>
                  <a:srgbClr val="161616"/>
                </a:solidFill>
              </a:rPr>
              <a:t>$ open http://127.0.0.1:4173/student.html</a:t>
            </a:r>
          </a:p>
          <a:p xmlns:a="http://schemas.openxmlformats.org/drawingml/2006/main">
            <a:pPr algn="l">
              <a:defRPr sz="1650" b="0">
                <a:solidFill>
                  <a:srgbClr val="161616"/>
                </a:solidFill>
              </a:defRPr>
            </a:pPr>
            <a:r>
              <a:rPr sz="1650" b="0">
                <a:solidFill>
                  <a:srgbClr val="161616"/>
                </a:solidFill>
              </a:rPr>
              <a:t>$ vercel --yes                   # 동료에게 프리뷰 공유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0B2CE-5A30-4A8B-9771-604FEEEF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866"/>
                </a:solidFill>
              </a:defRPr>
            </a:pPr>
            <a:r>
              <a:rPr sz="1425" b="0">
                <a:solidFill>
                  <a:srgbClr val="686866"/>
                </a:solidFill>
              </a:rPr>
              <a:t>실행 주소: https://prototype-rose-mu.vercel.app/student · 내부 검토와 의견 수렴을 위한 강의용 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59AFA-4975-48A5-973F-92FD5D2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40FC4-8423-4E15-84B9-5EB3710F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4 · 화면으로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6971E-DB86-4834-A9FD-A46C0603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2905802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E2B8D-7954-47F4-9680-65414776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3A50D-2CC1-4709-8CE2-23349E0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5D92F-8B03-40F6-ACE4-966DABC7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네 번째 변화: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사람 검토·승인 경계의 명시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FE690-046A-4965-A262-279A964E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영향도·복구 가능성·데이터 민감도에 따라 승인 시점을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BBBBD-AEE3-4B1A-B59A-E7F4146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D5F4-3FC1-4A2B-9362-0EDFCDC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5 · 안전한 경계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04A20-A84D-428F-988C-F9BB517C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1545125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CBDA2-0E41-4284-BEC3-5C68C8DE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위험 판단표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D321D-C722-46FA-B96C-D98493E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영향도와 복구 가능성에 따른 승인 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FC5FE-70C5-4C95-9F28-76402A5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틀렸을 때 학생·연구·기관에 미치는 영향이 크고 되돌리기 어려울수록 승인 시점을 앞당깁니다.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BD607-BF9D-42F1-BD45-8C31C5D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6"/>
                </a:solidFill>
              </a:defRPr>
            </a:pPr>
            <a:r>
              <a:rPr sz="1350" b="1">
                <a:solidFill>
                  <a:srgbClr val="686866"/>
                </a:solidFill>
              </a:rPr>
              <a:t>민감도·영향 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44FE0-4C25-4C89-96F7-F3E2D11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6866"/>
                </a:solidFill>
              </a:defRPr>
            </a:pPr>
            <a:r>
              <a:rPr sz="1350" b="1">
                <a:solidFill>
                  <a:srgbClr val="686866"/>
                </a:solidFill>
              </a:rPr>
              <a:t>되돌리기 어려움 · 외부 영향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44271-02B4-442C-A724-CA6ADE2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F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74A58-4223-45B9-9846-ACC7E46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910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공개 문헌 메타데이터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04BE-A5BA-45B8-9A95-FEBCAC95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74D02-14A7-49DA-8BC0-DB6EFFB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910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코드·검색식 초안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2CD29-352A-4464-A114-E06547ED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2EE81-F821-4152-B0EC-5364D74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910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자동 외부 게시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10474-73CD-4FF6-BB66-25494979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CDE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C30EF-386D-4960-A0A3-74AEF59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814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서식·용어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E1E6C-741A-43FE-8871-9142B657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E5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283B-ACD2-404F-8CA6-5E0C9CEA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814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근거 요약·분석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3C85-1449-436E-99C4-80706F24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9F171-9741-424B-990B-DAEA15E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정책 권고 초안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44128-D482-43DA-ACFD-ADA1349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B8E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4261F-E1ED-46E1-A6BA-754B2140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개인 메모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A3A37-DDDF-426F-B01B-87CA219E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D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AFC69-22FD-49A7-8C3B-69A55E4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민감자료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527C7-4D90-46AD-978C-1AF92E9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4003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9B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0A1D9-DF65-435E-B931-C390408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IRB·채용·평가 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AFEED-9129-44F3-9CC7-467EFC1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061B6-BCCD-4196-9A15-582670EB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5 · 안전한 경계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BBBC4-4ECF-4BBD-9F70-BF763190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47898306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2B230-A063-4F73-9869-E665CC5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세 단계 활용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728BF-0B1E-4915-88A6-FBD7495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세 가지 색으로 합의하는 AI 활용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D33A3-7CC2-46C9-8B33-D21D2B4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67"/>
                </a:solidFill>
              </a:defRPr>
            </a:pPr>
            <a:r>
              <a:rPr sz="1200" b="1">
                <a:solidFill>
                  <a:srgbClr val="2F8067"/>
                </a:solidFill>
              </a:rPr>
              <a:t>낮은 위험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FB621-0223-4C59-923E-D481309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자동 실행 + 표본 검수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7C98F-A5E7-48C7-A2EE-CBE0934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공개 메타데이터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형식 변환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중복·결측 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D16E6-CE5F-499C-8289-E3932451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D39A6-11B0-4248-AE47-C1B6080B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932"/>
                </a:solidFill>
              </a:defRPr>
            </a:pPr>
            <a:r>
              <a:rPr sz="1200" b="1">
                <a:solidFill>
                  <a:srgbClr val="B88932"/>
                </a:solidFill>
              </a:rPr>
              <a:t>주의 필요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03608-DF7F-4692-981B-5328FA3A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AI 초안 + 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F11E8-9EFD-4CC2-B565-30C4F2CA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검색식·코드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근거 요약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분석·초안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3C381-AADE-48E1-A58E-946F3784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55C32-FBED-4BC8-8AD0-F11062B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0383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4E49"/>
                </a:solidFill>
              </a:defRPr>
            </a:pPr>
            <a:r>
              <a:rPr sz="1200" b="1">
                <a:solidFill>
                  <a:srgbClr val="BF4E49"/>
                </a:solidFill>
              </a:rPr>
              <a:t>높은 위험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391C2-0F2B-439F-87F9-3A110C7B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4384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AI에 최종 판단 위임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BEBD6-3482-4DAD-B43D-4DDC0DDB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956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개인·IRB 결정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핵심 인용 확정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대외 정책 결론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A4DD2-8AA4-417A-AD04-3559C1E7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초록은 자동 실행과 표본 확인, 노랑은 AI 초안과 사람 승인, 빨강은 사람이 직접 판단합니다.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DA7C9-B164-42BF-9560-2DC5EE8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DE8C7-2BB9-4BB0-B92C-FEAE4D5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5 · 안전한 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44B52-CA89-43D8-A0DE-40A870F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62730260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9196D-0738-4872-9934-C8139B1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국제 기준 · UNESCO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B8B2-3D61-4A42-A29E-905BD08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교육 AI의 기준: 사람 중심과 꾸준한 확인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4b8f51bf84c76"/>
          <a:srcRect xmlns:a="http://schemas.openxmlformats.org/drawingml/2006/main" l="1862" t="0" r="18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619125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B0AC1-7D86-40D8-B6BC-670B2C2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210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</a:defRPr>
            </a:pPr>
            <a:r>
              <a:rPr sz="2550" b="1">
                <a:solidFill>
                  <a:srgbClr val="050505"/>
                </a:solidFill>
              </a:rPr>
              <a:t>사람 중심</a:t>
            </a:r>
          </a:p>
          <a:p xmlns:a="http://schemas.openxmlformats.org/drawingml/2006/main">
            <a:pPr algn="l">
              <a:defRPr sz="2550" b="1">
                <a:solidFill>
                  <a:srgbClr val="050505"/>
                </a:solidFill>
              </a:defRPr>
            </a:pPr>
            <a:r>
              <a:rPr sz="2550" b="1">
                <a:solidFill>
                  <a:srgbClr val="050505"/>
                </a:solidFill>
              </a:rPr>
              <a:t>윤리를 설계에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24E3B-77C6-4934-B370-3EEDFE0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4210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AI는 학습과 연구를 돕는 도구입니다. 사람의 권리·책임·다양성을 먼저 두고, 실제 사용 중에도 오류와 영향을 계속 살펴야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896B1-0CDA-47A6-8B55-A6FFEC6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866"/>
                </a:solidFill>
              </a:defRPr>
            </a:pPr>
            <a:r>
              <a:rPr sz="975" b="0">
                <a:solidFill>
                  <a:srgbClr val="686866"/>
                </a:solidFill>
              </a:rPr>
              <a:t>출처: UNESCO Guidance for GenAI in education and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FEBD6-2612-4B78-B045-D37940B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93889-175F-4E89-9859-D2CDB8B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5 · 안전한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E4417-E208-4E6D-8950-D6EF352A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58835321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963F8-204B-48F3-9561-1B664EF8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국내 공공부문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52A9E-22F5-45E8-A72E-AF2C0660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국내 공공기관이 함께 확인할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90143-D9C9-4F46-B009-62F080E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개인정보·도입 절차·권한·기록·운영 책임을 서비스 설계 단계부터 함께 확인합니다.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18d938f7e4185"/>
          <a:srcRect xmlns:a="http://schemas.openxmlformats.org/drawingml/2006/main" l="2209" t="0" r="2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479800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B9AEE-EEF6-4194-8B64-5D2C52E7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47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개인정보위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93F2A-53E5-4F3C-AB8F-E532FCDF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479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생성형 AI 수명주기별 개인정보 처리와 안전조치(2025.8)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7be9910bc4c5c"/>
          <a:srcRect xmlns:a="http://schemas.openxmlformats.org/drawingml/2006/main" l="2180" t="0" r="21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6100" y="2171700"/>
            <a:ext cx="3479800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E507B-9292-4794-B423-965C566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419600"/>
            <a:ext cx="347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NIA 2026 가이드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569B9-94F5-4C78-889D-367D5CD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5010150"/>
            <a:ext cx="3479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공통기반·예산·도입 절차·서비스 구현·운영·고도화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b09eae03a416e"/>
          <a:srcRect xmlns:a="http://schemas.openxmlformats.org/drawingml/2006/main" l="2209" t="0" r="2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6400" y="2171700"/>
            <a:ext cx="3479800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7BAD9-3501-481A-88B7-9A8F54B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419600"/>
            <a:ext cx="347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2026.08.28 시행 예정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2F3E5-AE22-4B6F-86C7-FB50326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5010150"/>
            <a:ext cx="3479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866"/>
                </a:solidFill>
              </a:defRPr>
            </a:pPr>
            <a:r>
              <a:rPr sz="1275" b="0">
                <a:solidFill>
                  <a:srgbClr val="686866"/>
                </a:solidFill>
              </a:rPr>
              <a:t>공공기관 AI 활용의 공정성·투명성·책임성·안전성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0EA44-B84E-4DDD-9D33-446EEB8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9CF3F-1DAC-458F-8932-D519D1E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5 · 안전한 경계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E7833-35ED-418B-9B9A-0AF86EF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8367846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AF3A-6881-47FF-B9F3-913DAF61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인용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8AA25-64B5-499C-92AE-6EB6EB89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모르면 비워 두고 ‘확인 필요’로 남깁니다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94E1-0064-4728-A2D2-1B3A91B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D109-300A-4F5A-9E46-C867BE43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주장 → 출처 → 원문 위치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→ 지지 수준 → 확인 상태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7CE38-66F1-4D10-B921-CF9D14C7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그럴듯하게 채우는 것보다, 어디를 더 확인해야 하는지 보여주는 편이 신뢰를 지킵니다.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143CA-1674-4F15-9FFE-486F16C9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5FC7-79B8-4E69-9BBA-4879C8A6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5 · 안전한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D93FC-8F1B-4A08-9ABA-571AF7D4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9621948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6BB9A-B2EB-4CAF-AD3E-4F1B45D9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주요 위험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7BAC8-BFD4-4DFE-BBB0-A5A2512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먼저 막아야 할 네 가지 위험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C8C5D-3329-4E2C-A66F-D388476F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개인정보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6A296-25B8-4EC2-A80C-BEDF9A5F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필요 이상 수집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18C34-5D94-47AD-8FFF-C11555EE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학생·교사·참여자의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식별·민감정보 노출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13DE-C6AF-42D1-B200-DCC0402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1D765-27DC-417B-9260-EDE8B7D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근거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A912-7307-4C42-B023-F3B267B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확인하지 않은 주장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870E0-74D9-41EE-8E9C-7376614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읽지 않은 원문·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없는 정보 추정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8D8F6-1762-44B7-BD6D-5EC401A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0E3B9-8BC4-4342-8352-D8AD5934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권한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0FE3B-4D1D-4D61-89FC-478DED7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의도하지 않은 변경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927AE-263F-4EE6-B97D-1D57DC3D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공유·삭제·발송·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원본 덮어쓰기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74E64-17E2-4E5C-AAF2-532A2F7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0383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7E069-BEA4-4BFB-819B-30812A7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038350"/>
            <a:ext cx="24907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자동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B7FF2-8573-4D43-81B1-E6DE244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38400"/>
            <a:ext cx="24907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사람 검토 생략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873B1-EFDD-4225-8B43-A1F4D56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95650"/>
            <a:ext cx="2490788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학생 평가·지원·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정책 결론 자동화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3459B-6FB8-43CC-9CAB-AB2985A2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첫 파일럿은 이 위험을 피할 수 있는 공개 자료·가상 자료·되돌릴 수 있는 업무에서 시작합니다.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B0B77-5FB2-4AB2-9234-A7AE1EB7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57A76-FA5E-49F6-9B7B-8FF3D3FE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5 · 안전한 경계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64405-9C54-4F9B-8486-ACF1E94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40327631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4446E-89B4-4139-9CCE-CF8A233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실행 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FAA15-3A6B-4EC7-A6A6-FC25C357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실행 전 여섯 가지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0487A-D961-41F9-8535-ACEF6710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자료 · 출처 · 권한 · 사람 검토 · 되돌리기 ·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7F107-BC38-4690-B86B-C503C8EC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57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실제 학생·참여자 정보가 들어가는가?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출처와 원문 위치를 확인할 수 있는가?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읽기·쓰기·공유 범위가 정해졌는가?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누가 최종 확인하고 승인하는가?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잘못되면 중단하고 되돌릴 수 있는가?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무엇을 바꿨는지 기록이 남는가?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AB908-C1FF-430C-B411-D3F52BE7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4A4A4"/>
                </a:solidFill>
              </a:defRPr>
            </a:pPr>
            <a:r>
              <a:rPr sz="1500" b="0">
                <a:solidFill>
                  <a:srgbClr val="A4A4A4"/>
                </a:solidFill>
              </a:rPr>
              <a:t>미확정 항목은 가상 자료·로컬 시안 단계에서 보완한 후 다음 단계로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B003C-DFC7-4424-8051-8DEF12E9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21EBE-C18B-4EC0-B5C4-A4EF188B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5 · 안전한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FCBBB-C9F7-4315-9E23-E7591EF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15603701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48651-CBB2-4E41-A3E1-09A4C919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8E9AFF"/>
                </a:solidFill>
              </a:defRPr>
            </a:pPr>
            <a:r>
              <a:rPr sz="5850" b="1">
                <a:solidFill>
                  <a:srgbClr val="8E9A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66BD4-B015-493F-959D-9D286B2C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71028-36F4-4B8C-9A88-FB7F51C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다섯 번째 변화: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작은 실험과 근거 기반의 다음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ACB18-7613-43E1-B005-D59CBDF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4A4"/>
                </a:solidFill>
              </a:defRPr>
            </a:pPr>
            <a:r>
              <a:rPr sz="1800" b="0">
                <a:solidFill>
                  <a:srgbClr val="A4A4A4"/>
                </a:solidFill>
              </a:rPr>
              <a:t>첫 목표는 서비스 완성이 아니라 연구 문제·성과 기준·위험 통제의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D870-8224-41FD-AC85-EE16536B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BF82-C83C-451A-978D-883DFF2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6 · 작은 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EE00B-E24A-4443-BF5E-51948689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5662969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A69B9-567D-496D-9967-9CD50EEA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5FFF"/>
                </a:solidFill>
              </a:defRPr>
            </a:pPr>
            <a:r>
              <a:rPr sz="1125" b="1">
                <a:solidFill>
                  <a:srgbClr val="4F5FFF"/>
                </a:solidFill>
              </a:rPr>
              <a:t>PRD 기반 90일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89621-6EDE-45B8-8137-26572F09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90일의 목표는 서비스 완성이 아니라 다음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AAF6-5EB3-4F28-8358-4B353AB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866"/>
                </a:solidFill>
              </a:defRPr>
            </a:pPr>
            <a:r>
              <a:rPr sz="1650" b="0">
                <a:solidFill>
                  <a:srgbClr val="686866"/>
                </a:solidFill>
              </a:rPr>
              <a:t>문제를 확인하고, 작은 시안을 써보고, 계속할지 고칠지 멈출지를 근거로 결정합니다.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C8B3-46AE-4F65-8B49-C0E1AD73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1–30일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6B44F-70D4-4DB8-B76A-A5B8075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한 가지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30B5C-A4E3-4444-BD08-606A7567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반복 업무·사용자 확인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1쪽 기준 문서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가상 자료 시안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E9424-B409-47BA-A400-BD1B5EA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D69EE-A108-4907-A5B9-4BC66052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31–60일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6268F-63A6-4011-8E8C-38EC07EC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함께 써보기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2427C-37ED-4EBB-9DE5-188382BA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내부 5명 사용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이해·오류·안전 확인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문구와 흐름 수정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F6A3-99A8-413A-A038-3DB5EEA9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4AB60-4B44-4882-87E1-8BF71C4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5FFF"/>
                </a:solidFill>
              </a:defRPr>
            </a:pPr>
            <a:r>
              <a:rPr sz="1200" b="1">
                <a:solidFill>
                  <a:srgbClr val="4F5FFF"/>
                </a:solidFill>
              </a:rPr>
              <a:t>61–90일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4B419-0402-4C49-B0FD-235CD98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다음 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DD809-AF71-4D7C-A061-A517C57E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승인된 작은 실험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결과·품질·위험 검토</a:t>
            </a:r>
          </a:p>
          <a:p xmlns:a="http://schemas.openxmlformats.org/drawingml/2006/main">
            <a:pPr algn="l">
              <a:defRPr sz="1575" b="0">
                <a:solidFill>
                  <a:srgbClr val="686866"/>
                </a:solidFill>
              </a:defRPr>
            </a:pPr>
            <a:r>
              <a:rPr sz="1575" b="0">
                <a:solidFill>
                  <a:srgbClr val="686866"/>
                </a:solidFill>
              </a:rPr>
              <a:t>확대·수정·중단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F6585-A8D1-47D8-B5AF-6F03F597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6866"/>
                </a:solidFill>
              </a:defRPr>
            </a:pPr>
            <a:r>
              <a:rPr sz="1500" b="0">
                <a:solidFill>
                  <a:srgbClr val="686866"/>
                </a:solidFill>
              </a:rPr>
              <a:t>GitHub에 남길 것: 문제 한 문장 · 원하는 결과 · 확인 기준 · 실험 기록 · 다음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84281-D10A-430A-9F90-3DF198D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D1015-50FD-4272-A342-F4B3FEFA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77777"/>
                </a:solidFill>
              </a:defRPr>
            </a:pPr>
            <a:r>
              <a:rPr sz="1050" b="0">
                <a:solidFill>
                  <a:srgbClr val="777777"/>
                </a:solidFill>
              </a:rPr>
              <a:t>6 · 작은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087CF-58CF-41AD-AAB9-17CCEEB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77777"/>
                </a:solidFill>
              </a:defRPr>
            </a:pPr>
            <a:r>
              <a:rPr sz="1050" b="1">
                <a:solidFill>
                  <a:srgbClr val="777777"/>
                </a:solidFill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33709774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29C24-08E0-474C-A2A1-EEF75AB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AGENTIC AI 핵심 철학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B554-5AE2-42CF-9A76-AD53EFA7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방향 · 실행 · 근거의 역할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312AB-1403-4585-94BD-E15D81A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4A4A4"/>
                </a:solidFill>
              </a:defRPr>
            </a:pPr>
            <a:r>
              <a:rPr sz="1650" b="0">
                <a:solidFill>
                  <a:srgbClr val="A4A4A4"/>
                </a:solidFill>
              </a:rPr>
              <a:t>사람이 방향을 정하고, 에이전트가 실행하며, 다음 판단은 근거에 둡니다.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0E9AF-CE08-468A-8F03-CF173B8B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HUMANS STEER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6CFB0-CCCC-4E8F-A121-238783A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인간이 방향을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제시한다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15BF-F876-4880-8FAB-EBC7B02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문제와 목표를 정의하고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가드레일을 세우며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최종 책임을 맡습니다.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ADD22-F558-40E5-BCB6-6513BDA5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97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4078F-D6B1-4B07-9C64-9F51CB9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AGENTS 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6AA0C-724B-494A-B752-A999D01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에이전트가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실행한다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6581-74E8-4A5C-A5DC-58A0248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정한 범위 안에서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필요한 도구를 사용하고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세부 작업을 이어갑니다.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04573-40A5-48FF-8999-EFC84E5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266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EB9C0-EDA2-4B29-B966-3F6DFEC4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266950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9AFF"/>
                </a:solidFill>
              </a:defRPr>
            </a:pPr>
            <a:r>
              <a:rPr sz="1200" b="1">
                <a:solidFill>
                  <a:srgbClr val="8E9AFF"/>
                </a:solidFill>
              </a:rPr>
              <a:t>EVIDENCE DECIDES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A5F49-3AD7-45DC-AC49-40E18094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67000"/>
            <a:ext cx="341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증거가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결정한다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99E99-4402-45E2-B8D5-86B3B81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524250"/>
            <a:ext cx="3416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로그·실험 결과·평가 지표로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성과와 다음 개선 방향을</a:t>
            </a:r>
          </a:p>
          <a:p xmlns:a="http://schemas.openxmlformats.org/drawingml/2006/main">
            <a:pPr algn="l">
              <a:defRPr sz="1575" b="0">
                <a:solidFill>
                  <a:srgbClr val="A4A4A4"/>
                </a:solidFill>
              </a:defRPr>
            </a:pPr>
            <a:r>
              <a:rPr sz="1575" b="0">
                <a:solidFill>
                  <a:srgbClr val="A4A4A4"/>
                </a:solidFill>
              </a:rPr>
              <a:t>객관적으로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E3DC3-BB70-4BB3-A74E-9B3FD1D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4A4A4"/>
                </a:solidFill>
              </a:defRPr>
            </a:pPr>
            <a:r>
              <a:rPr sz="1500" b="0">
                <a:solidFill>
                  <a:srgbClr val="A4A4A4"/>
                </a:solidFill>
              </a:rPr>
              <a:t>‘증거가 결정한다’는 결정권을 AI에 넘긴다는 뜻이 아니라, 사람의 판단 기준을 직관보다 근거에 둔다는 뜻입니다.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53DB3-DD64-4B67-B392-F3088A3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34741-9F69-4948-9A07-5FA8949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6 · 작은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62566-E7EF-4D51-863F-3467D226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56543919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0D666-8B3F-499D-A987-FAFF2AFA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9AFF"/>
                </a:solidFill>
              </a:defRPr>
            </a:pPr>
            <a:r>
              <a:rPr sz="1125" b="1">
                <a:solidFill>
                  <a:srgbClr val="8E9AFF"/>
                </a:solidFill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26AA1-C718-44E0-B5F5-B800092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오늘의 핵심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03487-40C3-4E9C-8415-E535115F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525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9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5CF75-2158-4979-AD83-1020935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한 가지 반복 업무에서 시작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실행 결과를 근거로 한 다음 범위 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FECAD-EF06-4539-AB27-96CFB0E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첫 요청: ‘이 자료를 읽고, 확인된 내용·확인 과제·다음 행동을 1쪽으로 정리해 주세요.’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A4A4A4"/>
                </a:solidFill>
              </a:defRPr>
            </a:pPr>
            <a:r>
              <a:rPr sz="1725" b="0">
                <a:solidFill>
                  <a:srgbClr val="A4A4A4"/>
                </a:solidFill>
              </a:rPr>
              <a:t>질의응답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0BB44-35C0-4F62-B033-BE0A6B3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5EDBD-CFB1-4451-9A1D-3C73C2F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8F8F"/>
                </a:solidFill>
              </a:defRPr>
            </a:pPr>
            <a:r>
              <a:rPr sz="1050" b="0">
                <a:solidFill>
                  <a:srgbClr val="8F8F8F"/>
                </a:solidFill>
              </a:rPr>
              <a:t>6 · 작은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7C567-5A2C-43D2-A685-5A366EC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F8F8F"/>
                </a:solidFill>
              </a:defRPr>
            </a:pPr>
            <a:r>
              <a:rPr sz="1050" b="1">
                <a:solidFill>
                  <a:srgbClr val="8F8F8F"/>
                </a:solidFill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45148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2026-08-06T22:32:41.7680000Z</dcterms:created>
  <dcterms:modified xsi:type="dcterms:W3CDTF">2026-08-06T22:32:41.7680000Z</dcterms:modified>
</coreProperties>
</file>