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제목을 읽고 오늘 강의가 도구 소개가 아니라 '취업 준비에 바로 쓰는 커뮤니케이션 방법'임을 첫 문장으로 밝힌다.
권장 시간: 1분
전환 문장: 먼저 제가 왜 이 주제를 이야기하는지 짧게 소개하겠습니다.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이름을 반복하지 않고 현재 활동·이력·연락처를 순서대로 45초 안에 안내한다. 산업과 기술이 계속 바뀌었다는 점에서 '설명 능력'이 이직의 공통 자산이었음을 짚는다.
권장 시간: 1분
전환 문장: 그렇다면 AI 시대의 공학도는 코드를 얼마나 잘 써야 할까요? 오늘의 답은 '코드의 양보다 요청·검증·책임'입니다.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시간표를 낭독하지 않고, 사례 세 개가 같은 구조로 반복된다는 점과 실습이 자기 자료로 진행된다는 점만 강조한다.
권장 시간: 1분
전환 문장: 먼저 오늘 끝나면 손에 남을 세 가지를 말씀드리겠습니다.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링크와 QR을 보여주고 '오늘 강의는 이 저장소 안에서 전부 재현된다'고 말한다. 폴더 네 개의 역할만 짚고, 하네스 엔지니어링을 한 문장으로 정의한다.
권장 시간: 1분
전환 문장: 그런데 이 방법은 Claude에만 묶인 것일까요? 한 장만 보고 넘어가겠습니다.
[Sources] https://github.com/smilesjcha/research-agent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도구 비교가 아니라 '방법이 도구에 묶이지 않는다'는 메시지만 준다. Codex는 AGENTS.md, NotebookLM은 소스 업로드라는 차이 한 가지씩만 짚는다. 각 도구의 메뉴 위치·요금제는 학생이 직접 확인하도록 안내한다.
권장 시간: 1분
전환 문장: 먼저 오늘 끝나면 손에 남을 세 가지를 말씀드리겠습니다.
[Sources] Anthropic Claude Code 문서 https://docs.claude.com/ko/docs/claude-code · OpenAI Codex 문서 https://developers.openai.com/codex · Google NotebookLM 도움말 https://support.google.com/notebooklm — 기능 명칭은 2026-09 기준, 최신 안내 확인 필요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세 약속을 읽고 마지막에 핵심 철학 한 문장을 소리 내어 읽는다. 강의 끝에 같은 문장으로 회수한다.
권장 시간: 1.5분
전환 문장: 그런데 이 세 가지가 왜 필요할까요? 여러분이 이미 겪어본 장면부터 보겠습니다.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네 장면 중 하나를 골라 손을 들게 해 공감을 만든다. '기술 부족'이 아니라 '설명 부족'으로 문제를 재정의한다.
권장 시간: 2분
전환 문장: 그럼 기업은 실제로 무엇을 보고 있을까요? 첫 번째 절로 들어갑니다.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절 전환. 질문을 읽고 3초 멈춘다.
권장 시간: 0.5분
전환 문장: 채용공고에 반복해서 등장하는 표현부터 보겠습니다.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세 역량을 '기술 외 스펙'이 아니라 기술 역량을 증명하는 통로로 설명한다. 공고 표현은 학생들이 실제 공고에서 확인하도록 유도한다.
권장 시간: 2분
전환 문장: 이 세 가지가 엔지니어의 하루에서 어디에 나타나는지 보겠습니다.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다섯 단계 중 네 단계가 커뮤니케이션임을 시각적으로 보여준다. 비율 수치는 제시하지 않고 구조로 설득한다.
권장 시간: 2분
전환 문장: 그래서 AI 시대에 남는 것과 사라지는 것을 나눠 보겠습니다.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표의 마지막 열만 강조해서 읽는다. AI가 대체하는 열이 아니라 남는 열이 오늘의 커리큘럼임을 밝힌다.
권장 시간: 2분
전환 문장: 그럼 요청은 어떻게 써야 정확할까요? 네 가지 요소만 기억하면 됩니다.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네 요소를 읽고 예시 요청문에서 괄호를 짚어 준다. 학생이 자기 요청문에 괄호 네 개를 붙여 보게 한다.
권장 시간: 2.5분
전환 문장: 이 요청을 어디서 어떻게 실행할지, 오늘 쓸 도구를 한 장으로 보겠습니다.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네 기능의 역할 차이만 설명한다. 메뉴 위치는 실습에서 화면으로 보여준다. Code 탭이 '폴더의 규칙(CLAUDE.md)을 읽고, 파일을 읽고, 파일로 남긴다'는 점을 강조한다.
권장 시간: 2분
전환 문장: 이제 첫 번째 사례, 채용공고를 읽는 법입니다.
[Sources] Anthropic 도움말 센터 https://support.claude.com (Claude Desktop · Claude Code · 프로젝트 안내)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절 전환.
권장 시간: 0.5분
전환 문장: 먼저 결과물부터 보겠습니다. 요구 역량 매트릭스입니다.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표를 읽는 순서를 알려준다: 필수 열이 많은 행 → 준비도가 낮은 행 → 근거 열. 세 직무가 실제 공식 직무소개에서 왔다는 점과, 그래도 '필수·우대' 판정은 강사의 요약이라 원문 확인 필요라는 점을 함께 말한다. 한화 e-Book은 화공 전공 직무가 사업부별로 여러 개 있으니 QR로 직접 보게 한다.
권장 시간: 2.5분
전환 문장: 공고뿐 아니라 기업 기술 블로그·논문도 같은 방식으로 1쪽에 정리할 수 있습니다.
[Sources] https://www.samsung-dsrecruit.com/recruits/job_intro/memory/semiProcess_tech.php · https://www.lgensol.com/kr/career-guide-job-tab1 · https://hanwhaaerospace-recruit.com/jdebook/index.html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세 칸의 기준을 읽는다. '확인 필요' 칸이 비어 있으면 오히려 의심하라고 말한다.
권장 시간: 2.5분
전환 문장: 그런데 '확인됨'의 정도가 다 같지 않습니다. 네 가지 표지로 나눕니다.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네 표지를 자소서 숫자에 적용하는 예를 하나 말한다: '정확도 95%'가 확인 완료인지 기억인지.
권장 시간: 2분
전환 문장: 실제 요청문을 Claude Desktop 화면 형태로 보겠습니다.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요청문에서 결과·자료·형식·경계가 어디에 있는지 짚는다. 후속 요청은 '고쳐 말하기'가 실력임을 강조한다.
권장 시간: 2.5분
전환 문장: 이 표가 준비 계획으로 어떻게 바뀌는지 마지막으로 보겠습니다.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표의 마지막 두 열(맡길 것 / 확인할 것)의 구분을 강조한다. 계획은 예시이며 학생이 실습 후 자기 표로 대체한다.
권장 시간: 2분
전환 문장: 두 번째 사례는 여러분이 가장 자주 쓰는 문서, 실험보고서와 캡스톤 문서입니다.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절 전환.
권장 시간: 0.5분
전환 문장: 읽히는 보고서의 구조는 한 가지입니다. 결론이 먼저 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막대 높이가 독자의 관심도임을 설명한다. 결론 한 문장을 못 쓰면 실험이 아직 끝나지 않은 것이라고 말한다.
권장 시간: 2분
전환 문장: 같은 결과를 두 가지 문장으로 써 보면 차이가 보입니다.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네 문장 쌍을 읽고 아래 네 질문으로 회수한다. AI에게 '이 네 질문 기준으로 내 문장을 지적해 달라'고 요청하는 예를 든다.
권장 시간: 2.5분
전환 문장: 캡스톤이나 공모전처럼 아직 만들기 전 단계라면, 1쪽 기획서가 먼저입니다.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'하지 않을 일' 칸을 가장 오래 설명한다. 면접에서 범위를 줄인 결정이 가장 좋은 이야기가 된다.
권장 시간: 2분
전환 문장: 문서를 썼다면 이제 검토입니다. 칭찬 말고 틀린 곳부터 찾게 합니다.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'관점 지정(채용 담당 엔지니어)'과 '기준 지정(다섯 렌즈)' 두 장치를 강조한다. 실습 B에서 그대로 사용한다.
권장 시간: 2.5분
전환 문장: 지적을 받아들일지 판단하려면 근거가 어디서 왔는지 추적할 수 있어야 합니다.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사슬 예시를 읽고 '확인 상태' 고리가 비어 있을 때 면접 질문이 어떻게 오는지 표로 연결한다.
권장 시간: 2분
전환 문장: 마지막으로 발표. 캡스톤 발표 10장은 이 순서면 충분합니다.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예시 열이 앞 장표(결론 먼저 · Before/After · 근거 사슬)의 같은 실험임을 짚는다. 7장 '내 역할'을 AI에게 맡기지 않는 이유를 설명한다. 발표 시간은 5분 기준 예시.
권장 시간: 2분
전환 문장: 이제 세 번째 사례, 여러분 자신을 설명하는 문서입니다.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절 전환. AI가 쓴 자소서를 걸러내는 기업이 늘고 있다는 점을 한 문장으로 언급한다(수치 인용 없이).
권장 시간: 0.5분
전환 문장: 재료부터 만듭니다. 경험 인벤토리입니다.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'내 결정' 열과 '결과(숫자)' 열이 비어 있는 경험은 아직 자소서 재료가 아니라고 말한다. 빈 행을 AI 질문으로 채우는 방식을 강조한다.
권장 시간: 2.5분
전환 문장: 이 다섯 칸이 곧 답변 구조입니다. STAR를 공학용으로 바꾼 것입니다.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예시 답변을 소리 내어 읽고(약 50초) 제약·결정 문장에서 멈춘다. 학생이 자기 경험 하나를 이 구조로 30초 말해 보게 한다.
권장 시간: 3분
전환 문장: 그럼 자소서에서 AI는 어디까지 도와야 할까요?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'AI가 먼저 쓰게 하지 않는다'를 규칙으로 못 박는다. 이유: 표현의 균질화, 기업의 AI 작성 탐지, 면접에서 내용을 방어 못 함.
권장 시간: 2분
전환 문장: 그래도 AI 냄새가 남습니다. 어떻게 알아보고 고칠까요?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고친 예시 열을 읽으면 모두 '사건·숫자·결정'이 있음을 짚는다. 요청문 끝의 '대신 써 주지는 마'를 강조한다.
권장 시간: 2.5분
전환 문장: 글이 준비되면 보여줄 곳이 필요합니다. 포트폴리오 README입니다.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목업의 위에서 아래 순서를 손가락으로 따라가며 30초 안에 읽힌다는 점을 보여준다. '내 역할'은 AI가 쓸 수 없는 블록임을 반복한다.
권장 시간: 2분
전환 문장: 재료와 문서가 준비됐다면, 마지막은 말하기 연습입니다.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루프의 세 번째 단계(소리 내어 답변)만 강조한다. 텍스트로 답하면 면접 연습이 되지 않는다. 실습 C에서 사용.
권장 시간: 2.5분
전환 문장: 이제 15분 동안 여러분 자료로 직접 해 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절 전환. 노트북과 Claude Desktop의 Code 탭 실행 여부를 확인한다. 저장소를 내려받은 학생은 practice_kit/my-career를 바로 연다.
권장 시간: 0.5분
전환 문장: 먼저 폴더를 엽니다. 3분이면 됩니다.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화면을 공유하며 1~3단계를 직접 시연한다(2분). 학생은 따라 하고, 막히면 옆 사람과 짝을 짓는다. 다음 장들의 실제 실행 화면으로 대체 시연할 수 있다.
권장 시간: 3분
전환 문장: 실습 A입니다. 5분 뒤 '가장 먼저 채울 빈칸' 한 줄을 발표해 주세요.
[Sources] Anthropic 도움말 센터 https://support.claude.com (Claude Desktop Code 탭 · Claude Code 안내)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학생이 결과를 '읽고 표시하는' 시간을 확보한다. 실행보다 확인 표지 붙이기를 감독한다.
권장 시간: 5분
전환 문장: 실습 B는 여러분이 이미 쓴 문서를 검토받습니다.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실제 화면으로 '읽기 → 쓰기 → 요약'의 순서를 보여준다. 결과 표가 아니라 '확인 필요'와 '어느 섹션에서 옮겼는지'를 짚는다. 한화 접수 마감(9/20)을 스스로 체크리스트에 올린 점도 언급.
권장 시간: 1분
전환 문장: 같은 세션에서 후속 요청 한 줄을 더 보내면 이렇게 이어집니다.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'고쳐 말하기'가 실력임을 실제 화면으로 보여준다. 계획표의 마지막 두 열(맡길 것 / 확인할 것)이 18번 장표와 같은 구조임을 짚고, AI가 '상까지는 못 올라간다'고 스스로 한계를 적은 점을 강조한다.
권장 시간: 0.5분
전환 문장: 실습 B는 여러분이 이미 쓴 문서를 검토받습니다.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'반박'을 한 명 이상 발표시킨다. AI의 지적을 그대로 받아들이지 않는 경험이 목표.
권장 시간: 5분
전환 문장: 마지막 실습 C는 말하기입니다. 조금 시끄러워져도 괜찮습니다.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지적 19개 중 3개만 먼저 보여주는 구조가 요청문의 '가장 심각한 3개 먼저'에서 나왔음을 짚는다.
권장 시간: 1분
전환 문장: 이 지적을 그대로 받아들이지 않고 반박하면 어떻게 될까요?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'반박에는 근거를'이 실제로 어떻게 작동하는지 보여준다. AI가 '대신 써 주지 마'를 지켜 조건만 제시한 점을 강조한다.
권장 시간: 0.5분
전환 문장: 마지막 실습 C는 말하기입니다. 조금 시끄러워져도 괜찮습니다.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소리 내어 답하게 한다. 짝을 지어 한 명은 답하고 한 명은 빠진 칸을 체크하는 방식도 가능.
권장 시간: 5분
전환 문장: 실습이 끝났습니다. 남긴 것을 확인하겠습니다.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질문 목록이 아니라 '출처·의도' 열을 보여준다. 면접관이 무엇을 확인하려는지 알면 답의 구조가 정해진다.
권장 시간: 1분
전환 문장: 실제로 답해 보면 이렇게 돌아옵니다.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'빠진 칸(제약? 결과?)을 내가 적는다'가 이 화면의 마지막 줄에서 어떻게 시작되는지 보여준다.
권장 시간: 0.5분
전환 문장: 실습이 끝났습니다. 남긴 것을 확인하겠습니다.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네 행 중 '내 판단' 행이 비어 있으면 실습이 끝나지 않은 것이라고 말한다.
권장 시간: 2분
전환 문장: 마지막으로, AI를 쓸 때 여러분이 넘지 말아야 할 선입니다.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절 전환.
권장 시간: 0.5분
전환 문장: 학생이 지켜야 할 세 가지 경계부터 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세 경계의 '확인처'를 강조한다. 특정 기업·학교 정책을 단정하지 않고 학생이 직접 확인하도록 한다.
권장 시간: 2분
전환 문장: 그럼 어떤 일은 자유롭게 맡기고, 어떤 일은 반드시 내가 결정할까요? 한 장의 판단표로 정리합니다.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세 구역의 항목을 읽고, 학생이 오늘 실습한 세 가지가 어느 구역인지 답하게 한다(A: 확인 후, B: 확인 후, C: 자유 → 답변은 사람).
권장 시간: 2.5분
전환 문장: 마무리입니다. 오늘 이후 30일 계획입니다.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4주 계획은 예시이며 순서를 바꿔도 된다고 말한다. 핵심은 '같은 폴더에서 같은 카드로 매주'.
권장 시간: 1.5분
전환 문장: 마지막 한 장입니다. 오늘의 문장으로 돌아갑니다.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의도: 핵심 철학을 다시 읽고, 세 열(요청·검증·책임)로 강의 전체를 회수한다. 질문은 '원하는 결과'에서 시작하도록 유도한다.
권장 시간: 1분 + 질의응답
전환 문장: 감사합니다. 질문 받겠습니다.
[Sources] None (facilitation/original synthesis)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milesjcha/research-age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milesjcha/research-agent" TargetMode="External"/><Relationship Id="rId2" Type="http://schemas.openxmlformats.org/officeDocument/2006/relationships/hyperlink" Target="https://github.com/smilesjcha/research-agent/tree/main/workspace/lecture_20260915" TargetMode="External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amsung-dsrecruit.com/recruits/job_intro/memory/semiProcess_tech.php" TargetMode="External"/><Relationship Id="rId2" Type="http://schemas.openxmlformats.org/officeDocument/2006/relationships/hyperlink" Target="https://www.lgensol.com/kr/career-guide-job-tab1" TargetMode="External"/><Relationship Id="rId3" Type="http://schemas.openxmlformats.org/officeDocument/2006/relationships/hyperlink" Target="https://hanwhaaerospace-recruit.com/jdebook/index.html" TargetMode="External"/><Relationship Id="rId4" Type="http://schemas.openxmlformats.org/officeDocument/2006/relationships/hyperlink" Target="https://www.samsung-dsrecruit.com/recruits/job_intro/memory/semiProcess_tech.php" TargetMode="External"/><Relationship Id="rId5" Type="http://schemas.openxmlformats.org/officeDocument/2006/relationships/hyperlink" Target="https://www.lgensol.com/kr/career-guide-job-tab1" TargetMode="External"/><Relationship Id="rId6" Type="http://schemas.openxmlformats.org/officeDocument/2006/relationships/hyperlink" Target="https://hanwhaaerospace-recruit.com/jdebook/index.html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milesjcha/research-age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부산대학교 공학커뮤니케이션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AI와 함께 쓰는</a:t>
            </a:r>
            <a:endParaRPr lang="en-US" sz="5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공학 커뮤니케이션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취업을 앞둔 공학도를 위한 직무 리서치 · 기술 문서 · 자기소개의 새로운 방법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2194560" cy="54864"/>
          </a:xfrm>
          <a:prstGeom prst="rect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120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2026.09.15(화)  ·  부산대학교 공학커뮤니케이션  ·  Claude Code 실습 포함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4864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차성재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 무신사 Agentic AI PM  ·  아주대학교 AI대학원 겸임교수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8521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강의 자료 · 실습 하네스  </a:t>
            </a:r>
            <a:pPr algn="l" indent="0" marL="0">
              <a:lnSpc>
                <a:spcPct val="115000"/>
              </a:lnSpc>
              <a:buNone/>
            </a:pPr>
            <a:r>
              <a:rPr lang="en-US" sz="1100" u="sng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https://github.com/smilesjcha/research-agent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2639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OPENING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강사 소개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현재 · 이력 · 연락처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Engineer에서 AI PM으로, 그리고 강의를 함께 진행합니다.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386584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500884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2990088"/>
            <a:ext cx="294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현업 · 강의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410712"/>
            <a:ext cx="294223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무신사 Agentic AI PM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아주대학교 AI대학원 겸임교수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490472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68698" y="214884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24730" y="2386584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030" y="2500884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24730" y="2990088"/>
            <a:ext cx="294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직무 · 산업 · 기술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624730" y="3410712"/>
            <a:ext cx="294223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Engineer → Agentic AI PM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금융 → 의료 → 교육 → 이커머스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ML → CV → LLM → Agent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219090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이력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97317" y="214884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53349" y="2386584"/>
            <a:ext cx="457200" cy="457200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649" y="2500884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53349" y="2990088"/>
            <a:ext cx="294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활용 · 취업 문의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53349" y="3410712"/>
            <a:ext cx="294223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LinkedIn  linkedin.com/in/smilechacha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Email  business.sjcha@gmail.com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Phone  010-9562-9958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947709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연락처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취업 준비 과정에서 AI 활용이나 포트폴리오 방향이 궁금하면 언제든 편하게 연락해 주세요.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OPENING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강의 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50분의 흐름: 세 가지 사례와 한 번의 실습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각 사례는 '요청 → 결과 → 내 판단'의 같은 순서로 진행합니다. 실습은 여러분의 자료로 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911535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8352" y="2734056"/>
            <a:ext cx="201168" cy="20116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31720"/>
            <a:ext cx="141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00–05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417712" cy="1828800"/>
          </a:xfrm>
          <a:prstGeom prst="roundRect">
            <a:avLst>
              <a:gd name="adj" fmla="val 516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3383280"/>
            <a:ext cx="112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시작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931920"/>
            <a:ext cx="112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 가져갈 것 · 하네스 저장소 · 공감 장면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0656" y="2734056"/>
            <a:ext cx="201168" cy="20116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22384" y="2331720"/>
            <a:ext cx="141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05–11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22384" y="3200400"/>
            <a:ext cx="1417712" cy="1828800"/>
          </a:xfrm>
          <a:prstGeom prst="roundRect">
            <a:avLst>
              <a:gd name="adj" fmla="val 516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68688" y="3383280"/>
            <a:ext cx="112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 채용 시장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368688" y="3931920"/>
            <a:ext cx="112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기업이 보는 것 · 요청의 네 요소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12960" y="2734056"/>
            <a:ext cx="201168" cy="20116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04688" y="2331720"/>
            <a:ext cx="141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11–19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04688" y="3200400"/>
            <a:ext cx="1417712" cy="1828800"/>
          </a:xfrm>
          <a:prstGeom prst="roundRect">
            <a:avLst>
              <a:gd name="adj" fmla="val 516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50992" y="3383280"/>
            <a:ext cx="112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 직무 리서치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950992" y="3931920"/>
            <a:ext cx="112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채용공고 · 기술자료 1쪽 정리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95264" y="2734056"/>
            <a:ext cx="201168" cy="20116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86992" y="2331720"/>
            <a:ext cx="141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19–27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86992" y="3200400"/>
            <a:ext cx="1417712" cy="1828800"/>
          </a:xfrm>
          <a:prstGeom prst="roundRect">
            <a:avLst>
              <a:gd name="adj" fmla="val 516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33296" y="3383280"/>
            <a:ext cx="112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 기술 문서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533296" y="3931920"/>
            <a:ext cx="112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보고서 · 캡스톤 · 비판적 검토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77567" y="2734056"/>
            <a:ext cx="201168" cy="20116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69296" y="2331720"/>
            <a:ext cx="141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27–35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69296" y="3200400"/>
            <a:ext cx="1417712" cy="1828800"/>
          </a:xfrm>
          <a:prstGeom prst="roundRect">
            <a:avLst>
              <a:gd name="adj" fmla="val 516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15600" y="3383280"/>
            <a:ext cx="112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 자기소개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15600" y="3931920"/>
            <a:ext cx="112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경험 인벤토리 · 자소서 · 면접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59871" y="2734056"/>
            <a:ext cx="201168" cy="201168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51599" y="2331720"/>
            <a:ext cx="141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35–46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51599" y="3200400"/>
            <a:ext cx="1417712" cy="1828800"/>
          </a:xfrm>
          <a:prstGeom prst="roundRect">
            <a:avLst>
              <a:gd name="adj" fmla="val 5160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97903" y="3383280"/>
            <a:ext cx="112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 실습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697903" y="3931920"/>
            <a:ext cx="112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 11분 · 카드 A~C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742175" y="2734056"/>
            <a:ext cx="201168" cy="20116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133903" y="2331720"/>
            <a:ext cx="141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46–50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133903" y="3200400"/>
            <a:ext cx="1417712" cy="1828800"/>
          </a:xfrm>
          <a:prstGeom prst="roundRect">
            <a:avLst>
              <a:gd name="adj" fmla="val 516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280207" y="3383280"/>
            <a:ext cx="112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 경계·마무리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10280207" y="3931920"/>
            <a:ext cx="112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지켜야 할 선 · 30일 계획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440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실습은 강의 중 소개한 요청문 카드 3장을 그대로 씁니다. 노트북과 Claude Desktop의 Code 탭(Claude Code)을 준비해 주세요.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OPENING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오늘의 자료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GitHub 하네스 저장소: 강의를 그대로 따라 할 수 있는 곳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장표·요청문 카드·실습 프로젝트·실제 실행 기록이 한 저장소에 있습니다. 강의 후 같은 폴더에서 같은 카드로 반복하면 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저장소</a:t>
            </a:r>
            <a:endParaRPr lang="en-US" sz="1050" dirty="0"/>
          </a:p>
        </p:txBody>
      </p:sp>
      <p:sp>
        <p:nvSpPr>
          <p:cNvPr id="7" name="Text 5">
            <a:hlinkClick r:id="rId1" tooltip=""/>
          </p:cNvPr>
          <p:cNvSpPr txBox="1"/>
          <p:nvPr/>
        </p:nvSpPr>
        <p:spPr>
          <a:xfrm>
            <a:off x="914400" y="25786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u="sng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github.com/smilesjcha/research-agent</a:t>
            </a:r>
            <a:endParaRPr lang="en-US" sz="1500" dirty="0"/>
          </a:p>
        </p:txBody>
      </p:sp>
      <p:sp>
        <p:nvSpPr>
          <p:cNvPr id="8" name="Text 6">
            <a:hlinkClick r:id="rId2" tooltip=""/>
          </p:cNvPr>
          <p:cNvSpPr txBox="1"/>
          <p:nvPr/>
        </p:nvSpPr>
        <p:spPr>
          <a:xfrm>
            <a:off x="91440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u="sng" dirty="0">
                <a:solidFill>
                  <a:srgbClr val="9A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workspace/lecture_20260915/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16002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685032"/>
            <a:ext cx="1453896" cy="14538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697480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QR로 열기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강의 폴더 바로가기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103120"/>
          <a:ext cx="642823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063240"/>
                <a:gridCol w="10332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폴더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들어 있는 것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언제 쓰나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workspace/lecture_20260915/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PPTX · PDF · 요청문 카드 · 실습 가이드 · 50분 진행안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강의 중 · 복습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…/practice_kit/my-career/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실습 프로젝트: 실제 공고 요약 3개(삼성전자 DS · LG에너지솔루션 · 한화에어로스페이스) · 경험정리 · 보고서 · 자소서 · CLAUDE.md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실습 A·B·C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…/practice_runs/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오늘 카드 A·B·C를 Claude Code(Fable 5.1 · 높음)로 실제 실행한 기록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결과 비교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 · policies/ · commands/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논문 탐색·작성·심사용 하네스 원본 (규칙 → 명령 → 검증의 구조)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 하네스 만들 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120640" y="4937760"/>
            <a:ext cx="6430975" cy="457200"/>
          </a:xfrm>
          <a:prstGeom prst="roundRect">
            <a:avLst>
              <a:gd name="adj" fmla="val 12000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303520" y="4937760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하네스 엔지니어링 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규칙(CLAUDE.md) · 자료 폴더 · 결과 폴더 · 검증 표지를 한 프로젝트에 묶어 두면, 같은 요청을 매주 반복해도 결과의 품질이 유지됩니다.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5532120"/>
            <a:ext cx="3484778" cy="54864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641848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" y="5641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207008" y="5532120"/>
            <a:ext cx="2798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저장소 내려받기 (Code → Download ZIP 또는 git clone)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353458" y="5532120"/>
            <a:ext cx="3484778" cy="54864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490618" y="5641848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490618" y="5641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920386" y="5532120"/>
            <a:ext cx="2798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Desktop → Code 탭 → practice_kit/my-career 폴더 열기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66837" y="5532120"/>
            <a:ext cx="3484778" cy="54864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203997" y="5641848"/>
            <a:ext cx="329184" cy="329184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203997" y="5641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8633765" y="5532120"/>
            <a:ext cx="2798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새 세션 · 모델 Fable 5.1 · 노력 높음 → 카드 A 붙여넣기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OPENING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 선택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방법, 다른 도구: Claude Code · Codex · NotebookLM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오늘은 Claude Desktop의 Code 탭으로 실습하지만, 방법은 도구에 묶여 있지 않습니다. 규칙 파일 · 자료 폴더 · 결과 파일 · 확인 표지만 있으면 어디서든 같습니다.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E6F1EB"/>
          </a:solidFill>
          <a:ln w="9525">
            <a:solidFill>
              <a:srgbClr val="E6F1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331720"/>
            <a:ext cx="457200" cy="457200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4460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331720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Desktop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560320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Code 탭 (Claude Code)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77824" y="2999232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7824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 실습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429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규칙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517904" y="3429000"/>
            <a:ext cx="2357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77824" y="3721608"/>
            <a:ext cx="2978810" cy="0"/>
          </a:xfrm>
          <a:prstGeom prst="line">
            <a:avLst/>
          </a:prstGeom>
          <a:noFill/>
          <a:ln w="6350">
            <a:solidFill>
              <a:srgbClr val="CFE3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3794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자료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517904" y="3794760"/>
            <a:ext cx="2357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폴더를 프로젝트로 열기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7824" y="4087368"/>
            <a:ext cx="2978810" cy="0"/>
          </a:xfrm>
          <a:prstGeom prst="line">
            <a:avLst/>
          </a:prstGeom>
          <a:noFill/>
          <a:ln w="6350">
            <a:solidFill>
              <a:srgbClr val="CFE3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7824" y="4160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517904" y="4160520"/>
            <a:ext cx="2357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04_outputs/ 에 파일로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7824" y="4453128"/>
            <a:ext cx="2978810" cy="0"/>
          </a:xfrm>
          <a:prstGeom prst="line">
            <a:avLst/>
          </a:prstGeom>
          <a:noFill/>
          <a:ln w="6350">
            <a:solidFill>
              <a:srgbClr val="CFE3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7824" y="4526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설정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517904" y="4526280"/>
            <a:ext cx="2357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Fable 5.1 · 노력 높음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77824" y="4818888"/>
            <a:ext cx="2978810" cy="0"/>
          </a:xfrm>
          <a:prstGeom prst="line">
            <a:avLst/>
          </a:prstGeom>
          <a:noFill/>
          <a:ln w="6350">
            <a:solidFill>
              <a:srgbClr val="CFE3D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7824" y="4937760"/>
            <a:ext cx="29788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폴더의 규칙을 세션마다 먼저 읽고, 파일을 읽고 쓰며, 쓰기 전에 승인을 묻습니다.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68698" y="210312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06442" y="233172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742" y="2446020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191658" y="2331720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ChatGPT Desktop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5191658" y="2560320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Codex</a:t>
            </a:r>
            <a:endParaRPr lang="en-US" sz="1550" dirty="0"/>
          </a:p>
        </p:txBody>
      </p:sp>
      <p:sp>
        <p:nvSpPr>
          <p:cNvPr id="30" name="Shape 26"/>
          <p:cNvSpPr/>
          <p:nvPr/>
        </p:nvSpPr>
        <p:spPr>
          <a:xfrm>
            <a:off x="4606442" y="2999232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606442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환경으로 가능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4606442" y="3429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규칙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5246522" y="3429000"/>
            <a:ext cx="2357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AGENTS.md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606442" y="3721608"/>
            <a:ext cx="2978810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606442" y="3794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자료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5246522" y="3794760"/>
            <a:ext cx="2357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폴더(작업 공간) 열기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606442" y="4087368"/>
            <a:ext cx="2978810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606442" y="4160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5246522" y="4160520"/>
            <a:ext cx="2357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폴더에 파일로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606442" y="4453128"/>
            <a:ext cx="2978810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4606442" y="4526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설정</a:t>
            </a:r>
            <a:endParaRPr lang="en-US" sz="1050" dirty="0"/>
          </a:p>
        </p:txBody>
      </p:sp>
      <p:sp>
        <p:nvSpPr>
          <p:cNvPr id="42" name="Text 38"/>
          <p:cNvSpPr txBox="1"/>
          <p:nvPr/>
        </p:nvSpPr>
        <p:spPr>
          <a:xfrm>
            <a:off x="5246522" y="4526280"/>
            <a:ext cx="2357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 · 추론 강도 선택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4606442" y="4818888"/>
            <a:ext cx="2978810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4606442" y="4937760"/>
            <a:ext cx="29788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동일하게 폴더를 열어 규칙 파일을 읽고 파일 단위로 작업합니다. 요청문 카드는 그대로 씁니다.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8097317" y="210312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8335061" y="233172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361" y="2446020"/>
            <a:ext cx="228600" cy="228600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8920277" y="2331720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Google Gemini</a:t>
            </a:r>
            <a:endParaRPr lang="en-US" sz="1050" dirty="0"/>
          </a:p>
        </p:txBody>
      </p:sp>
      <p:sp>
        <p:nvSpPr>
          <p:cNvPr id="49" name="Text 44"/>
          <p:cNvSpPr txBox="1"/>
          <p:nvPr/>
        </p:nvSpPr>
        <p:spPr>
          <a:xfrm>
            <a:off x="8920277" y="2560320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NotebookLM</a:t>
            </a:r>
            <a:endParaRPr lang="en-US" sz="1550" dirty="0"/>
          </a:p>
        </p:txBody>
      </p:sp>
      <p:sp>
        <p:nvSpPr>
          <p:cNvPr id="50" name="Shape 45"/>
          <p:cNvSpPr/>
          <p:nvPr/>
        </p:nvSpPr>
        <p:spPr>
          <a:xfrm>
            <a:off x="8335061" y="2999232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335061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자료 중심 방식</a:t>
            </a:r>
            <a:endParaRPr lang="en-US" sz="950" dirty="0"/>
          </a:p>
        </p:txBody>
      </p:sp>
      <p:sp>
        <p:nvSpPr>
          <p:cNvPr id="52" name="Text 47"/>
          <p:cNvSpPr txBox="1"/>
          <p:nvPr/>
        </p:nvSpPr>
        <p:spPr>
          <a:xfrm>
            <a:off x="8335061" y="3429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규칙</a:t>
            </a:r>
            <a:endParaRPr lang="en-US" sz="1050" dirty="0"/>
          </a:p>
        </p:txBody>
      </p:sp>
      <p:sp>
        <p:nvSpPr>
          <p:cNvPr id="53" name="Text 48"/>
          <p:cNvSpPr txBox="1"/>
          <p:nvPr/>
        </p:nvSpPr>
        <p:spPr>
          <a:xfrm>
            <a:off x="8975141" y="3429000"/>
            <a:ext cx="2357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노트에 지침 저장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8335061" y="3721608"/>
            <a:ext cx="2978810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8335061" y="3794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자료</a:t>
            </a:r>
            <a:endParaRPr lang="en-US" sz="1050" dirty="0"/>
          </a:p>
        </p:txBody>
      </p:sp>
      <p:sp>
        <p:nvSpPr>
          <p:cNvPr id="56" name="Text 51"/>
          <p:cNvSpPr txBox="1"/>
          <p:nvPr/>
        </p:nvSpPr>
        <p:spPr>
          <a:xfrm>
            <a:off x="8975141" y="3794760"/>
            <a:ext cx="2357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소스로 업로드 (PDF · 문서)</a:t>
            </a:r>
            <a:endParaRPr lang="en-US" sz="1100" dirty="0"/>
          </a:p>
        </p:txBody>
      </p:sp>
      <p:sp>
        <p:nvSpPr>
          <p:cNvPr id="57" name="Shape 52"/>
          <p:cNvSpPr/>
          <p:nvPr/>
        </p:nvSpPr>
        <p:spPr>
          <a:xfrm>
            <a:off x="8335061" y="4087368"/>
            <a:ext cx="2978810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8335061" y="4160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</a:t>
            </a:r>
            <a:endParaRPr lang="en-US" sz="1050" dirty="0"/>
          </a:p>
        </p:txBody>
      </p:sp>
      <p:sp>
        <p:nvSpPr>
          <p:cNvPr id="59" name="Text 54"/>
          <p:cNvSpPr txBox="1"/>
          <p:nvPr/>
        </p:nvSpPr>
        <p:spPr>
          <a:xfrm>
            <a:off x="8975141" y="4160520"/>
            <a:ext cx="2357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 표시가 붙은 답 · 노트</a:t>
            </a:r>
            <a:endParaRPr lang="en-US" sz="1100" dirty="0"/>
          </a:p>
        </p:txBody>
      </p:sp>
      <p:sp>
        <p:nvSpPr>
          <p:cNvPr id="60" name="Shape 55"/>
          <p:cNvSpPr/>
          <p:nvPr/>
        </p:nvSpPr>
        <p:spPr>
          <a:xfrm>
            <a:off x="8335061" y="4453128"/>
            <a:ext cx="2978810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8335061" y="4526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설정</a:t>
            </a:r>
            <a:endParaRPr lang="en-US" sz="1050" dirty="0"/>
          </a:p>
        </p:txBody>
      </p:sp>
      <p:sp>
        <p:nvSpPr>
          <p:cNvPr id="62" name="Text 57"/>
          <p:cNvSpPr txBox="1"/>
          <p:nvPr/>
        </p:nvSpPr>
        <p:spPr>
          <a:xfrm>
            <a:off x="8975141" y="4526280"/>
            <a:ext cx="2357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소스 범위 선택</a:t>
            </a:r>
            <a:endParaRPr lang="en-US" sz="1100" dirty="0"/>
          </a:p>
        </p:txBody>
      </p:sp>
      <p:sp>
        <p:nvSpPr>
          <p:cNvPr id="63" name="Shape 58"/>
          <p:cNvSpPr/>
          <p:nvPr/>
        </p:nvSpPr>
        <p:spPr>
          <a:xfrm>
            <a:off x="8335061" y="4818888"/>
            <a:ext cx="2978810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8335061" y="4937760"/>
            <a:ext cx="29788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폴더 대신 소스 묶음을 씁니다. 답마다 출처 위치가 붙어 '확인 완료 · 확인 필요' 표지를 붙이기 쉽습니다.</a:t>
            </a:r>
            <a:endParaRPr lang="en-US" sz="1050" dirty="0"/>
          </a:p>
        </p:txBody>
      </p:sp>
      <p:sp>
        <p:nvSpPr>
          <p:cNvPr id="65" name="Shape 60"/>
          <p:cNvSpPr/>
          <p:nvPr/>
        </p:nvSpPr>
        <p:spPr>
          <a:xfrm>
            <a:off x="640080" y="5623560"/>
            <a:ext cx="10911535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바뀌지 않는 것 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규칙 파일 · 자료 폴더 · 결과 파일 · 확인 표지. 도구는 바꿔도 이 네 가지가 있으면 오늘의 카드 A·B·C를 그대로 실행할 수 있습니다.</a:t>
            </a:r>
            <a:endParaRPr lang="en-US" sz="1150" dirty="0"/>
          </a:p>
        </p:txBody>
      </p:sp>
      <p:sp>
        <p:nvSpPr>
          <p:cNvPr id="67" name="Shape 6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OPENING</a:t>
            </a:r>
            <a:endParaRPr lang="en-US" sz="950" dirty="0"/>
          </a:p>
        </p:txBody>
      </p:sp>
      <p:sp>
        <p:nvSpPr>
          <p:cNvPr id="69" name="Text 64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950" dirty="0"/>
          </a:p>
        </p:txBody>
      </p:sp>
      <p:sp>
        <p:nvSpPr>
          <p:cNvPr id="70" name="Text 65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오늘의 약속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강의가 끝나면 손에 남을 세 가지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 사용법이 아니라, 취업 준비 문서 세 종류를 다루는 '방법'을 가져갑니다.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386584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500884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2990088"/>
            <a:ext cx="294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자료를 1쪽으로 정리하는 요청법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410712"/>
            <a:ext cx="294223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채용공고·기술 블로그·논문을 읽고 '확인된 사실 · 확인 필요 · 다음 행동'으로 정리하게 하는 한 가지 요청문.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271418" y="24231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368698" y="214884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24730" y="2386584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030" y="2500884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24730" y="2990088"/>
            <a:ext cx="294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경험을 근거로 쓰는 구조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624730" y="3410712"/>
            <a:ext cx="294223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프로젝트를 '문제 · 제약 · 결정 · 결과 · 배움'으로 다시 쓰는 법. 자소서·포트폴리오·면접의 공통 재료가 됩니다.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000037" y="24231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8097317" y="214884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53349" y="2386584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649" y="2500884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53349" y="2990088"/>
            <a:ext cx="294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초안을 내 글로 만드는 기준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53349" y="3410712"/>
            <a:ext cx="294223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칭찬 대신 틀린 곳부터 찾게 하는 검토 요청과, AI 티 나는 표현을 걷어내는 체크리스트.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10728655" y="24231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640080" y="544068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14400" y="5440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철학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초안을, 내가 판단을, 근거가 결정을.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Humans steer · Agents execute · Evidence decides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OPENING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공감 장면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기술은 있는데, 설명이 안 되는 네 순간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공학도가 취업 준비에서 막히는 지점은 대부분 '무엇을 했는가'가 아니라 '어떻게 말하는가'입니다.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56434" cy="288036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95728"/>
            <a:ext cx="457200" cy="457200"/>
          </a:xfrm>
          <a:prstGeom prst="ellipse">
            <a:avLst/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510028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2999232"/>
            <a:ext cx="2044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실험보고서 마감 전날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456432"/>
            <a:ext cx="20443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“결과는 나왔는데 고찰에 뭘 써야 하죠?”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5114" y="2148840"/>
            <a:ext cx="2556434" cy="288036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81146" y="2395728"/>
            <a:ext cx="457200" cy="457200"/>
          </a:xfrm>
          <a:prstGeom prst="ellipse">
            <a:avLst/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446" y="251002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81146" y="2999232"/>
            <a:ext cx="2044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캡스톤 발표 5분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3681146" y="3456432"/>
            <a:ext cx="20443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“기능은 다 되는데 뭐가 중요한지 못 정하겠어요.”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10148" y="2148840"/>
            <a:ext cx="2556434" cy="288036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6180" y="2395728"/>
            <a:ext cx="457200" cy="457200"/>
          </a:xfrm>
          <a:prstGeom prst="ellipse">
            <a:avLst/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480" y="251002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66180" y="2999232"/>
            <a:ext cx="2044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자기소개서 800자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6466180" y="3456432"/>
            <a:ext cx="20443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“다양한 프로젝트 경험을 통해… 그다음이 안 써져요.”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95181" y="2148840"/>
            <a:ext cx="2556434" cy="288036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51213" y="2395728"/>
            <a:ext cx="457200" cy="457200"/>
          </a:xfrm>
          <a:prstGeom prst="ellipse">
            <a:avLst/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513" y="251002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51213" y="2999232"/>
            <a:ext cx="2044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면접 꼬리질문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9251213" y="3456432"/>
            <a:ext cx="20443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“그 프로젝트에서 본인이 직접 결정한 건 뭐였나요?”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5349240"/>
            <a:ext cx="10911535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14400" y="53492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공통점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네 장면 모두 '근거가 있는 한 문장'이 없어서 막힙니다. 오늘은 그 문장을 AI와 함께 찾는 방법을 다룹니다.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OPENING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채용 시장이 보는 것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9082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 역량은 입장권이고, 설명 능력이 합격선을 가릅니다.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42C4F"/>
          </a:solidFill>
          <a:ln w="12700">
            <a:solidFill>
              <a:srgbClr val="142C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절에서 답할 질문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95604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코드와 초안을 대신 쓰는 시대에, 신입 엔지니어에게 남는 역량은 무엇인가?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2639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 · 채용 시장이 보는 것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채용공고의 공통 언어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기업이 신입 엔지니어에게 확인하는 세 가지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직무는 달라도 채용공고와 면접 질문에는 같은 표현이 반복됩니다. 세 가지 모두 '커뮤니케이션'으로 증명됩니다.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4298" cy="2743200"/>
          </a:xfrm>
          <a:prstGeom prst="roundRect">
            <a:avLst>
              <a:gd name="adj" fmla="val 2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386584"/>
            <a:ext cx="384048" cy="384048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16936"/>
            <a:ext cx="294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문제를 정의하는 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337560"/>
            <a:ext cx="294223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무엇이 문제이고 왜 지금 풀어야 하는지 한 문단으로 쓰는 능력.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983480"/>
            <a:ext cx="3454298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047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공고 속 표현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248656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“문제 정의” · “요구사항 분석” · “우선순위”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8698" y="2148840"/>
            <a:ext cx="3454298" cy="2743200"/>
          </a:xfrm>
          <a:prstGeom prst="roundRect">
            <a:avLst>
              <a:gd name="adj" fmla="val 2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4730" y="2386584"/>
            <a:ext cx="384048" cy="384048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2473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24730" y="2916936"/>
            <a:ext cx="294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근거로 설명하는 힘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24730" y="3337560"/>
            <a:ext cx="294223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결정의 이유를 데이터·실험·비교로 보여주는 능력. 감이 아니라 숫자.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68698" y="4983480"/>
            <a:ext cx="3454298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1578" y="5047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공고 속 표현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51578" y="5248656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“데이터 기반 의사결정” · “실험 설계” · “검증”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7317" y="2148840"/>
            <a:ext cx="3454298" cy="2743200"/>
          </a:xfrm>
          <a:prstGeom prst="roundRect">
            <a:avLst>
              <a:gd name="adj" fmla="val 2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53349" y="2386584"/>
            <a:ext cx="384048" cy="384048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53349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53349" y="2916936"/>
            <a:ext cx="294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함께 일하는 문서의 힘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53349" y="3337560"/>
            <a:ext cx="294223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동료가 읽고 바로 움직일 수 있는 보고서·README·회의록을 남기는 능력.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97317" y="4983480"/>
            <a:ext cx="3454298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80197" y="5047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공고 속 표현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280197" y="5248656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“문서화” · “협업” · “코드 리뷰”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면접관은 '무엇을 했는가'보다 '왜 그렇게 결정했고, 어떻게 확인했는가'를 묻습니다. 세 역량 모두 말과 글로만 보여줄 수 있습니다.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 · 채용 시장이 보는 것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일의 흐름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엔지니어의 일은 설명으로 시작해 설명으로 끝난다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구현은 가운데 한 단계입니다. 앞뒤 네 단계가 모두 읽고 쓰고 말하는 일입니다.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816547" cy="2331720"/>
          </a:xfrm>
          <a:prstGeom prst="roundRect">
            <a:avLst>
              <a:gd name="adj" fmla="val 4027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4034" y="2624328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194" y="27614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33756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요구 파악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4904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기획서·이슈·논문 읽기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29779" y="2898648"/>
            <a:ext cx="310896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913827" y="2331720"/>
            <a:ext cx="1816547" cy="2331720"/>
          </a:xfrm>
          <a:prstGeom prst="roundRect">
            <a:avLst>
              <a:gd name="adj" fmla="val 4027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7781" y="2624328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941" y="276148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13827" y="333756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설계 제안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050987" y="374904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설계 문서·대안 비교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803526" y="2898648"/>
            <a:ext cx="310896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187574" y="2331720"/>
            <a:ext cx="1816547" cy="233172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821528" y="2624328"/>
            <a:ext cx="548640" cy="548640"/>
          </a:xfrm>
          <a:prstGeom prst="ellipse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276148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87574" y="333756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구현·실험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324734" y="374904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코드·측정·시뮬레이션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077273" y="2898648"/>
            <a:ext cx="310896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7461321" y="2331720"/>
            <a:ext cx="1816547" cy="2331720"/>
          </a:xfrm>
          <a:prstGeom prst="roundRect">
            <a:avLst>
              <a:gd name="adj" fmla="val 4027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095275" y="2624328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435" y="276148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61321" y="333756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리뷰·검증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598481" y="374904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 설명·실험 노트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351020" y="2898648"/>
            <a:ext cx="310896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9735068" y="2331720"/>
            <a:ext cx="1816547" cy="2331720"/>
          </a:xfrm>
          <a:prstGeom prst="roundRect">
            <a:avLst>
              <a:gd name="adj" fmla="val 4027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369022" y="2624328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6182" y="276148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35068" y="333756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보고·발표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9872228" y="374904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 보고서·발표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64008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커뮤니케이션 단계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2057400" y="4937760"/>
            <a:ext cx="201168" cy="16459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256032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 실행 단계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3703320" y="4937760"/>
            <a:ext cx="20116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40080" y="5349240"/>
            <a:ext cx="10911535" cy="731520"/>
          </a:xfrm>
          <a:prstGeom prst="roundRect">
            <a:avLst>
              <a:gd name="adj" fmla="val 10000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914400" y="53492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바꾼 것 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가운데 단계(구현·실험)의 속도가 빨라질수록, 앞뒤 단계에서 '무엇을 왜 만들지'와 '결과가 맞는지'를 설명하는 사람의 가치가 커집니다.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 · 채용 시장이 보는 것</a:t>
            </a:r>
            <a:endParaRPr lang="en-US" sz="950" dirty="0"/>
          </a:p>
        </p:txBody>
      </p:sp>
      <p:sp>
        <p:nvSpPr>
          <p:cNvPr id="42" name="Text 35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950" dirty="0"/>
          </a:p>
        </p:txBody>
      </p:sp>
      <p:sp>
        <p:nvSpPr>
          <p:cNvPr id="43" name="Text 36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코드의 양보다 요청 · 검증 · 책임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AI에게 맡길 수 있는 일과 여러분에게 남는 일을 나누면, 무엇을 연습해야 하는지가 분명해집니다.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90879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34640"/>
                <a:gridCol w="3108960"/>
                <a:gridCol w="35021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작업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예전의 방식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AI와 함께하는 방식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여러분에게 남는 것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자료 조사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검색 → 스크랩 → 요약 (반나절)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자료를 넣고 1쪽 정리 요청 (10분)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무엇을 확인할지 정하고, 확인 필요 항목을 직접 검증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초안 작성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빈 문서 앞에서 첫 문장 고민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구조와 초안을 먼저 받고 고쳐 쓰기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 경험·숫자·결정을 넣고 최종 표현을 책임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코드·계산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예제 검색 후 수정, 디버깅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설명과 함께 코드 초안 생성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요구사항 정의, 테스트 케이스, 결과 해석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검토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친구·선배에게 부탁 (기약 없음)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비판적 검토를 즉시 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지적을 받아들일지 판단하고 근거로 반박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25780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25780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결론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연습해야 할 것은 '요청을 정확히 쓰는 법', '결과를 검증하는 법', '최종본에 책임지는 법'입니다. 이 세 가지가 공학 커뮤니케이션입니다.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 · 채용 시장이 보는 것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요청의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좋은 요청의 네 요소: 결과 · 자료 · 형식 · 경계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“잘 정리해줘”가 아니라, 네 요소를 채우면 첫 결과부터 쓸 만해집니다.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56434" cy="2514600"/>
          </a:xfrm>
          <a:prstGeom prst="roundRect">
            <a:avLst>
              <a:gd name="adj" fmla="val 290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3774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4917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432304"/>
            <a:ext cx="15505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017520"/>
            <a:ext cx="2080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무엇이 나오면 끝인가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3429000"/>
            <a:ext cx="20809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채용공고 3개의 요구 역량을 비교한 표 1개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25114" y="2148840"/>
            <a:ext cx="2556434" cy="2514600"/>
          </a:xfrm>
          <a:prstGeom prst="roundRect">
            <a:avLst>
              <a:gd name="adj" fmla="val 290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62858" y="23774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158" y="24917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48074" y="2432304"/>
            <a:ext cx="15505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자료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662858" y="3017520"/>
            <a:ext cx="2080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 읽고 답할 것인가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662858" y="3429000"/>
            <a:ext cx="20809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첨부한 공고 PDF 3개와 내 경험 정리 파일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10148" y="2148840"/>
            <a:ext cx="2556434" cy="2514600"/>
          </a:xfrm>
          <a:prstGeom prst="roundRect">
            <a:avLst>
              <a:gd name="adj" fmla="val 290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47892" y="23774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49174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33108" y="2432304"/>
            <a:ext cx="15505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형식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447892" y="3017520"/>
            <a:ext cx="2080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어떤 모양으로 줄 것인가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447892" y="3429000"/>
            <a:ext cx="20809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역량 × 회사 표 + 준비도 3단계, 1쪽 이내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995181" y="2148840"/>
            <a:ext cx="2556434" cy="2514600"/>
          </a:xfrm>
          <a:prstGeom prst="roundRect">
            <a:avLst>
              <a:gd name="adj" fmla="val 290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232925" y="23774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225" y="249174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818141" y="2432304"/>
            <a:ext cx="15505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경계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9232925" y="3017520"/>
            <a:ext cx="2080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하지 말아야 할 것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9232925" y="3429000"/>
            <a:ext cx="20809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공고에 없는 역량을 추측하지 말고 '확인 필요'로 표시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40080" y="484632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896112" y="5029200"/>
            <a:ext cx="10399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네 요소를 채운 요청문 예시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896112" y="5321808"/>
            <a:ext cx="103994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첨부한 채용공고 3개(자료)를 읽고 요구 역량을 회사별로 비교한 표(결과)를 만들어줘. 역량 × 회사 표에 내 준비도를 상·중·하로 붙이고 1쪽 이내로(형식). 공고에 명시되지 않은 역량은 추측하지 말고 '확인 필요'로 표시해줘(경계).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 · 채용 시장이 보는 것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 소개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Desktop 한눈에: 대화 · 프로젝트 · Code · 아티팩트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 실습은 Code 탭(Claude Code)으로 내 폴더를 열어, 자료를 읽고 결과 파일을 같은 폴더에 남기는 방식으로 진행합니다.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56434" cy="27889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774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4917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71800"/>
            <a:ext cx="2080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대화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383280"/>
            <a:ext cx="20809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생각을 다듬을 때. 질문을 던지고 답을 보며 요청을 고친다.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77824" y="4434840"/>
            <a:ext cx="2080946" cy="310896"/>
          </a:xfrm>
          <a:prstGeom prst="roundRect">
            <a:avLst>
              <a:gd name="adj" fmla="val 17647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7824" y="4434840"/>
            <a:ext cx="20809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아이디어 정리 · 표현 고치기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25114" y="2148840"/>
            <a:ext cx="2556434" cy="27889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62858" y="23774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158" y="249174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62858" y="2971800"/>
            <a:ext cx="2080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662858" y="3383280"/>
            <a:ext cx="20809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자료와 지침을 묶어 두는 공간. 자소서·포트폴리오처럼 반복 작업에 적합.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662858" y="4434840"/>
            <a:ext cx="2080946" cy="310896"/>
          </a:xfrm>
          <a:prstGeom prst="roundRect">
            <a:avLst>
              <a:gd name="adj" fmla="val 17647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662858" y="4434840"/>
            <a:ext cx="20809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취업 준비 자료 모음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10148" y="2148840"/>
            <a:ext cx="2556434" cy="2788920"/>
          </a:xfrm>
          <a:prstGeom prst="roundRect">
            <a:avLst>
              <a:gd name="adj" fmla="val 2861"/>
            </a:avLst>
          </a:prstGeom>
          <a:solidFill>
            <a:srgbClr val="E6F1EB"/>
          </a:solidFill>
          <a:ln w="9525">
            <a:solidFill>
              <a:srgbClr val="E6F1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47892" y="2377440"/>
            <a:ext cx="457200" cy="457200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49174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47892" y="2971800"/>
            <a:ext cx="2080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Code (Claude Code)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447892" y="3383280"/>
            <a:ext cx="20809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폴더를 프로젝트로 열고, CLAUDE.md 규칙 아래 파일을 읽고 결과를 파일로 저장한다.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447892" y="4434840"/>
            <a:ext cx="2080946" cy="310896"/>
          </a:xfrm>
          <a:prstGeom prst="roundRect">
            <a:avLst>
              <a:gd name="adj" fmla="val 17647"/>
            </a:avLst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447892" y="4434840"/>
            <a:ext cx="20809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 실습의 중심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995181" y="2148840"/>
            <a:ext cx="2556434" cy="27889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232925" y="23774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225" y="249174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232925" y="2971800"/>
            <a:ext cx="2080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아티팩트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9232925" y="3383280"/>
            <a:ext cx="20809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표·문서·간단한 웹 화면을 결과물로 만들어 바로 확인한다.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9232925" y="4434840"/>
            <a:ext cx="2080946" cy="310896"/>
          </a:xfrm>
          <a:prstGeom prst="roundRect">
            <a:avLst>
              <a:gd name="adj" fmla="val 17647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232925" y="4434840"/>
            <a:ext cx="20809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표 · 1쪽 문서 · 시안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0080" y="5230368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40080" y="5230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1078992" y="5230368"/>
            <a:ext cx="2616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폴더 만들기  my-career/ (CLAUDE.md 포함)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3832250" y="5394960"/>
            <a:ext cx="27432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4353458" y="5230368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4353458" y="5230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4792370" y="5230368"/>
            <a:ext cx="2616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Code 탭 → 폴더 열기 → 새 세션 (Fable 5.1 · 높음)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7545629" y="5394960"/>
            <a:ext cx="27432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41" name="Shape 35"/>
          <p:cNvSpPr/>
          <p:nvPr/>
        </p:nvSpPr>
        <p:spPr>
          <a:xfrm>
            <a:off x="8066837" y="5230368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8066837" y="5230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8505749" y="5230368"/>
            <a:ext cx="2616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요청문 카드 붙여넣기 → 04_outputs 확인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640080" y="57150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준비 3단계는 5절에서 다시 안내합니다.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 · 채용 시장이 보는 것</a:t>
            </a:r>
            <a:endParaRPr lang="en-US" sz="950" dirty="0"/>
          </a:p>
        </p:txBody>
      </p:sp>
      <p:sp>
        <p:nvSpPr>
          <p:cNvPr id="47" name="Text 41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13</a:t>
            </a:r>
            <a:endParaRPr lang="en-US" sz="950" dirty="0"/>
          </a:p>
        </p:txBody>
      </p:sp>
      <p:sp>
        <p:nvSpPr>
          <p:cNvPr id="48" name="Text 42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직무 리서치: 채용공고를 읽는 법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9082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공고 열 개를 훑는 대신, 세 개를 제대로 읽고 준비 계획으로 바꿉니다.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42C4F"/>
          </a:solidFill>
          <a:ln w="12700">
            <a:solidFill>
              <a:srgbClr val="142C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절에서 답할 질문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95604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내가 지원할 직무가 실제로 요구하는 역량은 무엇이고, 나는 어디까지 준비되어 있는가?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2639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 · 직무 리서치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14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사례 1 · 결과물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채용공고 3개 → 요구 역량 매트릭스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화공·화학·소재·재료 전공이 실제로 지원하는 세 직무의 공식 직무소개를 역량 단위로 쪼개고, 회사별 요구 강도와 내 준비도를 한 표에 둡니다.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90879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691640"/>
                <a:gridCol w="1737360"/>
                <a:gridCol w="1828800"/>
                <a:gridCol w="960120"/>
                <a:gridCol w="2359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요구 역량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u="sng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삼성전자 DS · 반도체공정기술 (링크)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u="sng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LG에너지솔루션 · 소재/Cell 개발 (링크)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u="sng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한화에어로스페이스 · 추진제 개발(화공) (링크)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 준비도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 (내 경험)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화공·재료 전공 지식 (고분자 · 반응공학 · 상변태)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추천 전공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A12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중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전공 수업 이수, 고분자 합성 실습 없음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실험 설계 · 시험평가 · 규격화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7D5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공정 실습 수율 실험 3회 반복, 대조군 비교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소재 특성 · 기기 분석 (SEM · XRD · 열분석)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A12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중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분석 실습 1회, 결과 해석은 조교 의존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 · 통계 분석 (Python · 머신러닝)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 + 우대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94A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언급 없음*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A12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중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측정 자동화 스크립트, 통계 검정 경험 없음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공정 개선 · 양산 Trouble shooting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필수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4A48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양산·현장 경험 없음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논문 · 특허 · 프로젝트 증거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6F78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94A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언급 없음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6F78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A12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확인 필요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학회 스터디 발표 6회, 공개 산출물 없음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74920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07492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읽는 법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세 회사 모두 '필수'인데 준비도가 '하'인 행(공정 개선 · 양산)이 첫 빈칸입니다. 다만 신입에게 양산 경험 자체를 요구하는지는 공고마다 다르므로, 실습에서는 '필수'로 단정하지 말고 원문 위치를 붙여 다시 판정합니다.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 열은 예시이며 실습에서 본인 경험정리.md로 다시 채웁니다.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8338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출처(2026-09-15 확인, 열 제목 클릭): </a:t>
            </a:r>
            <a:pPr algn="l" indent="0" marL="0">
              <a:lnSpc>
                <a:spcPct val="125000"/>
              </a:lnSpc>
              <a:buNone/>
            </a:pPr>
            <a:r>
              <a:rPr lang="en-US" sz="900" u="sng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삼성전자 DS 직무소개 「반도체공정기술」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· </a:t>
            </a:r>
            <a:pPr algn="l" indent="0" marL="0">
              <a:lnSpc>
                <a:spcPct val="125000"/>
              </a:lnSpc>
              <a:buNone/>
            </a:pPr>
            <a:r>
              <a:rPr lang="en-US" sz="900" u="sng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LG에너지솔루션 직무소개 「R&amp;D 소재/Cell 개발」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· </a:t>
            </a:r>
            <a:pPr algn="l" indent="0" marL="0">
              <a:lnSpc>
                <a:spcPct val="125000"/>
              </a:lnSpc>
              <a:buNone/>
            </a:pPr>
            <a:r>
              <a:rPr lang="en-US" sz="900" u="sng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한화에어로스페이스 2026 하반기 JD e-Book 「PGM사업부 제조/생산기술_화학공학/화학(대전)」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.  필수·우대 판정은 직무소개 문장을 강사가 요약한 것이며, 자격 요건은 각 회차 채용공고 원문 확인 필요.  * LG에너지솔루션은 DX 직무에서 별도로 요구.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 · 직무 리서치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15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사례 1 · 핵심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 자료 한 편을 '사실 · 확인 필요 · 다음 행동'으로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면접 전 지원 기업의 기술 블로그를 읽을 때 가장 먼저 써볼 요청입니다. 요약이 아니라 판단 재료를 만듭니다.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4298" cy="3337560"/>
          </a:xfrm>
          <a:prstGeom prst="roundRect">
            <a:avLst>
              <a:gd name="adj" fmla="val 2192"/>
            </a:avLst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377440"/>
            <a:ext cx="438912" cy="438912"/>
          </a:xfrm>
          <a:prstGeom prst="ellipse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87168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414016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F7D5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확인된 사실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2971800"/>
            <a:ext cx="29422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원문에 명시된 내용만</a:t>
            </a:r>
            <a:endParaRPr lang="en-US" sz="1250" dirty="0"/>
          </a:p>
          <a:p>
            <a:pPr algn="l"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 위치(절·페이지) 함께</a:t>
            </a:r>
            <a:endParaRPr lang="en-US" sz="1250" dirty="0"/>
          </a:p>
          <a:p>
            <a:pPr algn="l"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숫자는 단위·조건 포함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96112" y="4160520"/>
            <a:ext cx="2942234" cy="0"/>
          </a:xfrm>
          <a:prstGeom prst="line">
            <a:avLst/>
          </a:prstGeom>
          <a:noFill/>
          <a:ln w="6350">
            <a:solidFill>
              <a:srgbClr val="2F7D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" y="4297680"/>
            <a:ext cx="29422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예) 해당 팀은 2025년부터 배터리 셀 불량 검출에 비전 모델을 도입함 (블로그 2절)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68698" y="2148840"/>
            <a:ext cx="3454298" cy="3337560"/>
          </a:xfrm>
          <a:prstGeom prst="roundRect">
            <a:avLst>
              <a:gd name="adj" fmla="val 2192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24730" y="2377440"/>
            <a:ext cx="438912" cy="438912"/>
          </a:xfrm>
          <a:prstGeom prst="ellipse">
            <a:avLst/>
          </a:prstGeom>
          <a:solidFill>
            <a:srgbClr val="B07A12"/>
          </a:solidFill>
          <a:ln w="12700">
            <a:solidFill>
              <a:srgbClr val="B07A1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58" y="2487168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91658" y="2414016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B07A1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확인 필요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624730" y="2971800"/>
            <a:ext cx="29422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원문이 암시만 한 내용</a:t>
            </a:r>
            <a:endParaRPr lang="en-US" sz="1250" dirty="0"/>
          </a:p>
          <a:p>
            <a:pPr algn="l"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다른 자료와 충돌하는 내용</a:t>
            </a:r>
            <a:endParaRPr lang="en-US" sz="1250" dirty="0"/>
          </a:p>
          <a:p>
            <a:pPr algn="l"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추정한 내용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624730" y="4160520"/>
            <a:ext cx="2942234" cy="0"/>
          </a:xfrm>
          <a:prstGeom prst="line">
            <a:avLst/>
          </a:prstGeom>
          <a:noFill/>
          <a:ln w="6350">
            <a:solidFill>
              <a:srgbClr val="B07A1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624730" y="4297680"/>
            <a:ext cx="29422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예) 모델 정확도 수치가 본문에 없음 → 채용 설명회에서 질문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7317" y="2148840"/>
            <a:ext cx="3454298" cy="3337560"/>
          </a:xfrm>
          <a:prstGeom prst="roundRect">
            <a:avLst>
              <a:gd name="adj" fmla="val 2192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53349" y="2377440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48716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920277" y="2414016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 행동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353349" y="2971800"/>
            <a:ext cx="29422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내가 할 일 3개 이내</a:t>
            </a:r>
            <a:endParaRPr lang="en-US" sz="1250" dirty="0"/>
          </a:p>
          <a:p>
            <a:pPr algn="l"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기한과 결과물 명시</a:t>
            </a:r>
            <a:endParaRPr lang="en-US" sz="1250" dirty="0"/>
          </a:p>
          <a:p>
            <a:pPr algn="l"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자소서·면접 연결점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353349" y="4160520"/>
            <a:ext cx="2942234" cy="0"/>
          </a:xfrm>
          <a:prstGeom prst="line">
            <a:avLst/>
          </a:prstGeom>
          <a:noFill/>
          <a:ln w="6350">
            <a:solidFill>
              <a:srgbClr val="0B1F3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353349" y="4297680"/>
            <a:ext cx="29422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예) 이 주제로 자소서 지원동기 1문단 초안 → 금요일까지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요청문 한 줄:  “첨부한 글을 읽고 확인된 사실 · 확인 필요 · 다음 행동 세 칸으로 1쪽에 정리해줘. 각 사실에는 원문 위치를 붙이고, 모르면 확인 필요로 남겨줘.”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 · 직무 리서치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16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검증 상태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결과에 붙이는 네 가지 확인 표지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내용을 같은 확신으로 말하지 않으면, 어디를 더 읽어야 하는지 바로 보입니다. 자소서 숫자에도 같은 표지를 씁니다.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908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743200"/>
                <a:gridCol w="3931920"/>
                <a:gridCol w="28163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표지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뜻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취업 준비에서의 예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다음 행동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7D5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확인 완료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원문 위치와 내용이 직접 연결됨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공고에 '통계 분석 필수'가 명시됨 (자격요건 2항)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그대로 인용 · 자소서 근거로 사용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6F78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요약만 확인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AI 요약은 봤지만 원문은 아직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기술 블로그 요약에서 '비전 모델 도입' 언급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핵심 인용 전 원문 1회 확인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07A12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확인 필요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정보가 부족하거나 자료 간 충돌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면접 후기에 '코딩 테스트 있음' vs 공고에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설명회·인사팀 문의 목록에 추가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94A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이번 범위 밖, 이유를 남김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3년차 이상 요구하는 공고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제외 이유 기록 → 같은 검토 반복 방지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25780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25780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모르는 내용을 그럴듯하게 채우지 않고 '확인 필요'로 남기는 것이, 면접장에서 여러분을 지키는 습관입니다.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 · 직무 리서치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17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사례 1 · 요청문 카드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직무 리서치 요청문: 그대로 붙여 넣어 쓰는 첫 번째 카드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왼쪽은 실습에서 쓸 요청문, 오른쪽은 첫 결과를 받은 뒤 고쳐 말하는 후속 요청입니다.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0350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286000"/>
            <a:ext cx="5522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카드 A · 첫 요청 (Claude Code, my-career 폴더를 프로젝트로 열기)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78608"/>
            <a:ext cx="55229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01_jd 폴더의 채용공고 3개와 02_experience/경험정리.md를 읽고,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 요구 역량 × 회사 표를 만들어줘. 각 칸은 필수 / 우대 / 언급 없음 중 하나로.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② 내 준비도 열을 상·중·하로 채우고, 근거 열에는 경험정리.md의 어느 항목을 근거로 했는지 적어줘.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③ 공고에 명시되지 않은 역량은 추측하지 말고 '확인 필요'로 표시해줘.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결과는 04_outputs/역량매트릭스.md 로 저장하고, 표 아래에 '가장 먼저 채울 빈칸 1개'를 이유와 함께 써줘.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2103120"/>
            <a:ext cx="4602175" cy="3931920"/>
          </a:xfrm>
          <a:prstGeom prst="roundRect">
            <a:avLst>
              <a:gd name="adj" fmla="val 186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05472" y="2286000"/>
            <a:ext cx="4090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후속 요청 · 결과를 보며 한 가지씩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205472" y="2651760"/>
            <a:ext cx="4090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결과가 너무 길 때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2898648"/>
            <a:ext cx="40901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“표만 남기고 설명은 각 행 한 줄로 줄여줘.”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3474720"/>
            <a:ext cx="4090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근거가 약할 때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3721608"/>
            <a:ext cx="40901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“준비도 '상'으로 표시한 행마다 경험정리.md의 원문을 인용해줘. 인용할 수 없으면 '중'으로 내려줘.”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4297680"/>
            <a:ext cx="4090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다음이 안 보일 때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205472" y="4544568"/>
            <a:ext cx="40901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“'하'인 역량 하나를 골라 4주 안에 증거를 만들 계획을 주차별로 써줘.”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205472" y="5120640"/>
            <a:ext cx="4090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검토를 받고 싶을 때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205472" y="5367528"/>
            <a:ext cx="40901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“이 표를 채용 담당자 관점에서 보고, 근거가 부족해 보이는 칸 3개를 지적해줘.”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 · 직무 리서치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18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사례 1 · 다음 행동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빈칸을 증거로 바꾸는 30일 준비 계획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'하'인 역량 하나를 골라, 4주 안에 자소서에 쓸 수 있는 증거(파일·숫자·링크)를 만드는 계획입니다.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9087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3017520"/>
                <a:gridCol w="2560320"/>
                <a:gridCol w="249631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목표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만들 증거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AI에게 맡길 것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내가 확인할 것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1주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기술 문서 기준 익히기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지원 기업 기술 블로그 2편 1쪽 정리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사실·확인 필요·다음 행동 정리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원문 위치 대조, 확인 필요 항목 해소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2주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 프로젝트 보고서 재작성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캡스톤 보고서 결론 먼저 구조로 개정본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구조 제안, 비판적 검토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숫자·조건·한계 문장은 직접 작성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3주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공개 가능한 산출물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GitHub README 1개 (문제·역할·결과·한계)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README 초안, 용어 일관성 점검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 역할과 결정이 사실인지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4주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자소서 연결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'기술 문서·보고' 역량 문단 400자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예상 질문 10개, 표현 중복 점검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최종 문장과 제출 책임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74920"/>
            <a:ext cx="3454298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5257800"/>
            <a:ext cx="384048" cy="384048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5353812"/>
            <a:ext cx="192024" cy="1920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3312" y="5193792"/>
            <a:ext cx="2539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 번에 하나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5468112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역량 하나, 증거 하나. 넓게 시작하면 4주 뒤 남는 파일이 없습니다.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68698" y="5074920"/>
            <a:ext cx="3454298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69866" y="5257800"/>
            <a:ext cx="384048" cy="384048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878" y="5353812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81930" y="5193792"/>
            <a:ext cx="2539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증거는 파일로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5081930" y="5468112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'했다'가 아니라 링크·숫자·문서로 남깁니다. 면접에서 꺼낼 수 있어야 합니다.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97317" y="5074920"/>
            <a:ext cx="3454298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98485" y="5257800"/>
            <a:ext cx="384048" cy="384048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497" y="5353812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810549" y="5193792"/>
            <a:ext cx="2539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매주 표를 갱신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8810549" y="5468112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준비도 열을 매주 다시 채우면, 자소서 마감 때 근거 열이 완성돼 있습니다.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 · 직무 리서치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19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 문서: 읽히는 보고서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9082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잘한 실험도 읽히지 않으면 평가받지 못합니다. 결론을 먼저 쓰고, 근거를 사슬로 잇습니다.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42C4F"/>
          </a:solidFill>
          <a:ln w="12700">
            <a:solidFill>
              <a:srgbClr val="142C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절에서 답할 질문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95604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실험보고서·캡스톤 문서·발표 자료를 채용 담당자가 읽어도 통하는 문서로 바꾸려면?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2639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 · 기술 문서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문서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읽히는 보고서의 순서: 결론 → 근거 → 방법 → 한계 → 다음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학교 보고서는 서론부터, 현업 문서는 결론부터 읽습니다. 순서만 바꿔도 같은 실험이 다르게 평가됩니다.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021373" cy="1463040"/>
          </a:xfrm>
          <a:prstGeom prst="roundRect">
            <a:avLst>
              <a:gd name="adj" fmla="val 375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02137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결론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60520"/>
            <a:ext cx="18384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 문장. 무엇이 얼마나 좋아졌는가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37760"/>
            <a:ext cx="18384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80°C 조건에서 수율 12%p 향상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62621" y="2665476"/>
            <a:ext cx="2021373" cy="1312164"/>
          </a:xfrm>
          <a:prstGeom prst="roundRect">
            <a:avLst>
              <a:gd name="adj" fmla="val 4181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62621" y="2665476"/>
            <a:ext cx="2021373" cy="1312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954061" y="4160520"/>
            <a:ext cx="18384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결론을 지지하는 숫자·그래프 2~3개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954061" y="4937760"/>
            <a:ext cx="18384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n=3, 평균 ±2%p, 대조군 대비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85161" y="2816352"/>
            <a:ext cx="2021373" cy="1161288"/>
          </a:xfrm>
          <a:prstGeom prst="roundRect">
            <a:avLst>
              <a:gd name="adj" fmla="val 4724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85161" y="2816352"/>
            <a:ext cx="2021373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방법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176601" y="4160520"/>
            <a:ext cx="18384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재현 가능한 조건과 절차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176601" y="4937760"/>
            <a:ext cx="18384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장비·재료·측정 간격·코드 링크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07702" y="2967228"/>
            <a:ext cx="2021373" cy="1010412"/>
          </a:xfrm>
          <a:prstGeom prst="roundRect">
            <a:avLst>
              <a:gd name="adj" fmla="val 543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07702" y="2967228"/>
            <a:ext cx="2021373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한계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99142" y="4160520"/>
            <a:ext cx="18384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결론이 성립하지 않는 조건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99142" y="4937760"/>
            <a:ext cx="18384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온도 90°C 이상 미측정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30243" y="3118104"/>
            <a:ext cx="2021373" cy="859536"/>
          </a:xfrm>
          <a:prstGeom prst="roundRect">
            <a:avLst>
              <a:gd name="adj" fmla="val 6383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30243" y="3118104"/>
            <a:ext cx="202137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621683" y="4160520"/>
            <a:ext cx="18384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누가 무엇을 언제까지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621683" y="4937760"/>
            <a:ext cx="18384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90°C 추가 실험 → 10/2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독자의 관심 · 읽는 순서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14600" y="2231136"/>
            <a:ext cx="274320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" y="544068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440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요청문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“첨부한 보고서를 결론 → 근거 → 방법 → 한계 → 다음 순서로 재구성해줘. 결론은 한 문장, 숫자는 원문에 있는 것만 쓰고 없으면 [확인 필요]로 남겨줘.”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 · 기술 문서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21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표현의 전환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실험, 다른 문장: 조건 · 숫자 · 비교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왼쪽은 학생 보고서에서 자주 보는 문장, 오른쪽은 채용 담당자가 읽고 싶은 문장입니다. 조건·숫자·비교가 들어가면 근거가 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72888" cy="3108960"/>
          </a:xfrm>
          <a:prstGeom prst="roundRect">
            <a:avLst>
              <a:gd name="adj" fmla="val 235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78728" y="2148840"/>
            <a:ext cx="527288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37744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3774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BEFORE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34760" y="237744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4760" y="23774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AFTER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834640"/>
            <a:ext cx="476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“다양한 조건에서 실험을 진행하였다.”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4760" y="2834640"/>
            <a:ext cx="476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“온도 60·70·80°C, 압력 고정, 각 조건 3회 반복 측정했다.”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" y="3383280"/>
            <a:ext cx="4760824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4760" y="3383280"/>
            <a:ext cx="4760824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3438144"/>
            <a:ext cx="476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“결과가 전반적으로 잘 나왔다.”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34760" y="3438144"/>
            <a:ext cx="476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“80°C에서 수율 71%로 대조군(59%) 대비 12%p 높았다(±2%p).”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6112" y="3986784"/>
            <a:ext cx="4760824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4760" y="3986784"/>
            <a:ext cx="4760824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4041648"/>
            <a:ext cx="476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“향후 추가 연구가 필요할 것으로 보인다.”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34760" y="4041648"/>
            <a:ext cx="476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“90°C 이상은 미측정이며, 장비 한계로 10월 2일 추가 실험 예정.”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6112" y="4590288"/>
            <a:ext cx="4760824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4760" y="4590288"/>
            <a:ext cx="4760824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" y="4645152"/>
            <a:ext cx="476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“팀원들과 협력하여 문제를 해결하였다.”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34760" y="4645152"/>
            <a:ext cx="476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“측정 자동화 스크립트를 내가 작성해 반복당 40분 → 8분으로 줄였다.”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2590724" cy="640080"/>
          </a:xfrm>
          <a:prstGeom prst="roundRect">
            <a:avLst>
              <a:gd name="adj" fmla="val 11429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5605272"/>
            <a:ext cx="310896" cy="31089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544068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조건이 있는가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413684" y="5440680"/>
            <a:ext cx="2590724" cy="640080"/>
          </a:xfrm>
          <a:prstGeom prst="roundRect">
            <a:avLst>
              <a:gd name="adj" fmla="val 11429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78276" y="5605272"/>
            <a:ext cx="310896" cy="31089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78276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980612" y="544068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숫자와 단위가 있는가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87288" y="5440680"/>
            <a:ext cx="2590724" cy="640080"/>
          </a:xfrm>
          <a:prstGeom prst="roundRect">
            <a:avLst>
              <a:gd name="adj" fmla="val 11429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1880" y="5605272"/>
            <a:ext cx="310896" cy="31089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51880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754216" y="544068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비교 대상이 있는가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960891" y="5440680"/>
            <a:ext cx="2590724" cy="640080"/>
          </a:xfrm>
          <a:prstGeom prst="roundRect">
            <a:avLst>
              <a:gd name="adj" fmla="val 11429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25483" y="5605272"/>
            <a:ext cx="310896" cy="31089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25483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527819" y="544068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결정·행동이 보이는가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 · 기술 문서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22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기획 문서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캡스톤 1쪽 기획서의 네 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기능 목록 대신 네 칸을 채우면, 팀원과 교수·심사위원이 같은 그림을 봅니다. 면접에서 '왜 그걸 만들었나'의 답이 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18608" cy="1600200"/>
          </a:xfrm>
          <a:prstGeom prst="roundRect">
            <a:avLst>
              <a:gd name="adj" fmla="val 457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386584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963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44752" y="2404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44752" y="2770632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누가, 언제, 무엇 때문에 불편한가. 우리가 관찰한 장면 하나.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77824" y="3200400"/>
            <a:ext cx="48431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320040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예)  학과 실험실 아세톤 폐용매가 주 20L 배출되고, 기존 증류기 회수율은 40%에 그침 (관찰 2주)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33008" y="2148840"/>
            <a:ext cx="5318608" cy="1600200"/>
          </a:xfrm>
          <a:prstGeom prst="roundRect">
            <a:avLst>
              <a:gd name="adj" fmla="val 457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70752" y="2386584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480" y="249631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37680" y="2404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작은 예상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037680" y="2770632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가장 작은 버전이 성공하면 무엇이 달라지는가.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70752" y="3200400"/>
            <a:ext cx="48431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98768" y="320040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예)  환류비·가열 온도 두 조건만 바꿔도 회수율 60% 이상이면 폐용매 처리량이 절반 이하로 줄 것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" y="3977640"/>
            <a:ext cx="5318608" cy="1600200"/>
          </a:xfrm>
          <a:prstGeom prst="roundRect">
            <a:avLst>
              <a:gd name="adj" fmla="val 457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77824" y="4215384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44752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하지 않을 일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444752" y="4599432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이번 학기에 의도적으로 뺀 기능과 이유.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77824" y="5029200"/>
            <a:ext cx="48431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005840" y="502920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예)  새 장치 제작 · 자동 제어 · 혼합 용매(아세톤+에탄올)는 제외 — 검증 전 확장 금지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233008" y="3977640"/>
            <a:ext cx="5318608" cy="1600200"/>
          </a:xfrm>
          <a:prstGeom prst="roundRect">
            <a:avLst>
              <a:gd name="adj" fmla="val 457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70752" y="4215384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480" y="432511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037680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확인할 변화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037680" y="4599432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성공을 무엇으로 측정할 것인가. 숫자와 기간.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470752" y="5029200"/>
            <a:ext cx="48431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598768" y="502920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예)  4주 운용 후 회수율(GC 순도 포함) · 주당 폐용매 배출량 · 안전 사고 0건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요청문:  “캡스톤 아이디어 메모를 읽고 문제·작은 예상·하지 않을 일·확인할 변화 네 칸으로 1쪽 기획서를 만들어줘. 각 칸에 '팀이 아직 정하지 않은 것'을 질문으로 남겨줘.”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 · 기술 문서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23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검토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비판적 검토: 칭찬 말고 틀린 곳부터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기본적으로 친절합니다. 검토를 요청할 때는 관점과 기준을 지정해야 쓸 만한 지적이 나옵니다.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286000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카드 B · 비판적 검토 요청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78608"/>
            <a:ext cx="48828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너는 이 보고서를 처음 읽는 채용 담당 엔지니어야. 칭찬은 생략하고,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 논리 비약  ② 근거 없는 숫자  ③ 용어 불일치  ④ 독자가 모를 전제  ⑤ 빠진 한계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다섯 기준으로 문제 되는 문장을 원문 그대로 인용하고, 왜 문제인지 한 줄, 고친 예시 한 줄을 붙여줘.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가장 심각한 것 3개를 먼저 보여주고, 확신이 없는 지적은 '확인 필요'로 표시해줘.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03120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다섯 가지 검토 렌즈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2514600"/>
            <a:ext cx="310896" cy="31089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48272" y="2468880"/>
            <a:ext cx="4785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논리 비약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748272" y="2706624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결과에서 결론으로 건너뛴 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090672"/>
            <a:ext cx="310896" cy="31089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48272" y="3044952"/>
            <a:ext cx="4785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 없는 숫자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748272" y="3282696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출처·조건·단위가 없는 수치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666744"/>
            <a:ext cx="310896" cy="31089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3621024"/>
            <a:ext cx="4785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용어 불일치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748272" y="3858768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대상을 다른 이름으로 부름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4242816"/>
            <a:ext cx="310896" cy="31089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48272" y="4197096"/>
            <a:ext cx="4785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독자가 모를 전제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748272" y="443484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우리 팀만 아는 배경·약어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4818888"/>
            <a:ext cx="310896" cy="31089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4818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748272" y="4773168"/>
            <a:ext cx="4785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빠진 한계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748272" y="5010912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성립하지 않는 조건을 숨김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486400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48640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판단은 내가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지적 3개 중 받아들일 것과 반박할 것을 나누고, 반박에는 근거를 붙입니다. 이 과정 자체가 면접 답변 연습입니다.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 · 기술 문서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24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 사슬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주장 → 출처 → 원문 위치 → 확인 상태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보고서와 자소서의 모든 숫자는 이 사슬로 되짚을 수 있어야 합니다. 끊긴 고리가 면접 꼬리질문이 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41927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4963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42032"/>
            <a:ext cx="1413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주장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108960"/>
            <a:ext cx="19437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“측정 시간을 40분에서 8분으로 줄였다”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23362" y="2724912"/>
            <a:ext cx="283464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0834" y="2240280"/>
            <a:ext cx="241927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8578" y="24963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08578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93794" y="2542032"/>
            <a:ext cx="1413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708578" y="3108960"/>
            <a:ext cx="19437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캡스톤 실험 로그 (2026-05 3주차)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54116" y="2724912"/>
            <a:ext cx="283464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01588" y="2240280"/>
            <a:ext cx="241927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9332" y="24963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9332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124548" y="2542032"/>
            <a:ext cx="1413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원문 위치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39332" y="3108960"/>
            <a:ext cx="19437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logs/week3.csv 12~20행, 자동화 전후 비교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784869" y="2724912"/>
            <a:ext cx="283464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32341" y="2240280"/>
            <a:ext cx="241927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70085" y="24963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70085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955301" y="2542032"/>
            <a:ext cx="1413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확인 상태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370085" y="3108960"/>
            <a:ext cx="19437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확인 완료 · 팀원 2명 교차 확인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5196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48737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끊긴 고리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면접에서 나오는 질문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미리 하는 일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출처 없음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“그 수치는 어디서 나왔죠?”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로그·노트·스크린샷을 한 폴더에 모아 둔다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원문 위치 없음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“어느 실험이었는지 기억나세요?”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파일명·날짜·행 번호까지 적는다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확인 상태 없음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“팀원 기여와 본인 기여를 나눠 주세요.”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교차 확인한 사람과 방법을 남긴다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 · 기술 문서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25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발표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실험 결과 발표 10장: 문제 1 · 결론 1 · 근거 4 · 한계 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졸업연구·공정 실습·학회 발표는 보고서의 순서를 그대로 따릅니다. 장비 사진과 절차 나열보다 '왜 이 조건인가'와 '얼마나 달라졌나'가 먼저입니다.</a:t>
            </a:r>
            <a:endParaRPr lang="en-US" sz="1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3657600"/>
                <a:gridCol w="4297680"/>
                <a:gridCol w="9418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장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역할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 장의 핵심 질문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화공·재료 예시 (온도 조건별 수율 실험)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문제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어떤 조건에서 무엇이 안 되는가 (장면 하나)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60°C 조건 수율이 낮고 원인을 몰랐다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0:40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무엇을 얼마나 바꿨는가 (숫자 한 줄)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80°C에서 수율 71%, 대조군(60°C) 대비 12%p ↑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0:30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3–6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 · 방법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조건 설계 → 대조군 비교 → 측정 결과 → 재현성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3조건 × 3회 반복 · 압력 고정 · 편차 ±2%p · 측정 로그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2:30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 역할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내가 직접 결정하고 만든 것 (조원 기여와 구분)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측정 자동화 스크립트 작성 (40분 → 8분)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0:30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성립하지 않는 조건과 이유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90°C 이상 미측정 · 반응 메커니즘 미확인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0:30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9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누가 무엇을 언제까지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90°C 추가 실험 → 10/2, 열분석 병행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0:20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질의응답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예상 질문 3개를 미리 적어 둔다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“3회로 충분한가?” “대조군은 왜 60°C인가?”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86400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48640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요청문 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“보고서를 읽고 위 10장 구조로 장표별 제목(결론형 한 문장)과 발표 대본 2줄씩을 써줘. 7장 '내 역할'은 비워 두고 나에게 질문 3개를 해줘.”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 · 기술 문서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26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자기소개: 경험을 근거로 말하기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9082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자소서·포트폴리오·면접은 다른 문서가 아니라, 같은 경험 재료를 세 가지 형식으로 꺼내는 일입니다.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42C4F"/>
          </a:solidFill>
          <a:ln w="12700">
            <a:solidFill>
              <a:srgbClr val="142C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절에서 답할 질문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95604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자소서를 대신 쓸 수 있는 시대에, 내 글임을 증명하는 것은 무엇인가?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2639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 · 자기소개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27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재료 만들기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경험 인벤토리: 자소서 · 포트폴리오 · 면접의 공통 재료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경험 하나를 다섯 칸으로 쪼개 표로 쌓아 두면, 어떤 문항이 와도 조합만 하면 됩니다. AI는 빈칸을 질문으로 찾아 줍니다.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0879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600200"/>
                <a:gridCol w="1874520"/>
                <a:gridCol w="1874520"/>
                <a:gridCol w="162763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경험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문제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제약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 결정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결과 (숫자)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배움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캡스톤 · 폐용매 증류 회수 개선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아세톤 폐용매 주 20L, 회수율 40%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4명 · 8주 · 예산 30만원 · 야간 실험 불가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새 장치 제작 제외, 환류비·온도 조건만 최적화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회수율 40 → 72% (3회 평균), 배출 20 → 6 L/주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범위를 줄이는 결정이 완성도를 만든다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공정 실습 · 수율 실험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조건별 수율 차이 원인 불명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장비 1대 · 측정 40분/회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측정 자동화 스크립트 직접 작성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40분 → 8분, 80°C 수율 +12%p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측정 시간을 줄이면 반복 횟수가 는다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학회 스터디 · 논문 리뷰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발표 준비에 매주 6시간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비전공 팀원 2명 포함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논문 1쪽 정리 양식 도입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준비 시간 6h → 3h, 6주 유지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양식 하나가 팀 커뮤니케이션을 바꾼다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i="1" dirty="0">
                          <a:solidFill>
                            <a:srgbClr val="8A94A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(빈 행)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8A94A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AI가 질문으로 채움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2578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2578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요청문 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“02_experience/경험정리.md를 읽고 경험 × (문제·제약·결정·결과·배움) 표로 정리해줘. 결과 칸에 숫자가 없으면 비워 두고, 채우기 위해 나에게 물어볼 질문을 경험마다 2개씩 적어줘.”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표의 내용은 예시입니다. 숫자·결정은 반드시 본인의 기록에서 가져옵니다.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 · 자기소개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28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답변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STAR를 공학용으로: 문제 · 제약 · 결정 · 결과 · 배움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'제약'과 '결정'이 들어가면 이야기가 됩니다. 엔지니어의 가치는 제약 아래에서 내린 결정에서 드러납니다.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962851" cy="1508760"/>
          </a:xfrm>
          <a:prstGeom prst="roundRect">
            <a:avLst>
              <a:gd name="adj" fmla="val 484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414016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523744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450592"/>
            <a:ext cx="10484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3017520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관찰한 장면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48651" y="2633472"/>
            <a:ext cx="18288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77251" y="2194560"/>
            <a:ext cx="1962851" cy="1508760"/>
          </a:xfrm>
          <a:prstGeom prst="roundRect">
            <a:avLst>
              <a:gd name="adj" fmla="val 4848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96707" y="2414016"/>
            <a:ext cx="438912" cy="438912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435" y="252374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4491" y="2450592"/>
            <a:ext cx="10484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제약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096707" y="3017520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시간·인원·장비·비용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885822" y="2633472"/>
            <a:ext cx="18288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114422" y="2194560"/>
            <a:ext cx="1962851" cy="1508760"/>
          </a:xfrm>
          <a:prstGeom prst="roundRect">
            <a:avLst>
              <a:gd name="adj" fmla="val 4848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333878" y="2414016"/>
            <a:ext cx="438912" cy="438912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606" y="25237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891662" y="2450592"/>
            <a:ext cx="10484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결정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5333878" y="3017520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대안 중 내가 고른 것과 이유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122993" y="2633472"/>
            <a:ext cx="18288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7351593" y="2194560"/>
            <a:ext cx="1962851" cy="1508760"/>
          </a:xfrm>
          <a:prstGeom prst="roundRect">
            <a:avLst>
              <a:gd name="adj" fmla="val 484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571049" y="2414016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777" y="2523744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128833" y="2450592"/>
            <a:ext cx="10484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7571049" y="3017520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숫자·비교·기간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360164" y="2633472"/>
            <a:ext cx="18288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9588764" y="2194560"/>
            <a:ext cx="1962851" cy="1508760"/>
          </a:xfrm>
          <a:prstGeom prst="roundRect">
            <a:avLst>
              <a:gd name="adj" fmla="val 484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808220" y="2414016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7948" y="2523744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0366004" y="2450592"/>
            <a:ext cx="10484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배움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9808220" y="3017520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다음에 다르게 할 것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40080" y="393192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914400" y="409651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예시 답변 · 60초 (면접 “가장 어려웠던 프로젝트는?”)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914400" y="443484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  </a:t>
            </a:r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학과 실험실에서 아세톤 폐용매가 주 20L 나오는데 기존 증류기 회수율이 40%에 그쳤습니다. 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제약  </a:t>
            </a:r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4명, 8주, 예산 30만원에 인화성 규정으로 야간 실험이 안 돼 처음 계획한 새 장치 제작은 불가능했습니다.  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결정  </a:t>
            </a:r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제가 '기존 증류기의 환류비와 온도 두 조건만 먼저 검증하자'고 제안해 범위를 줄였고, 대신 4주 실제 운용을 조건으로 걸었습니다.  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  </a:t>
            </a:r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회수율이 40%에서 72%(3회 평균)로 올라 4주 동안 폐용매 배출이 주 20L에서 6L로 줄었고, 운용 로그를 근거로 학과에 정식 적용을 제안했습니다.  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배움  </a:t>
            </a:r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범위를 줄이는 결정이 완성도를 만든다는 것을 배웠고, 다음엔 순도 측정 방법을 첫 주에 정할 것입니다.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 · 자기소개</a:t>
            </a:r>
            <a:endParaRPr lang="en-US" sz="950" dirty="0"/>
          </a:p>
        </p:txBody>
      </p:sp>
      <p:sp>
        <p:nvSpPr>
          <p:cNvPr id="39" name="Text 32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29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역할 분담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자소서에서의 분업: 초안은 내가, 검토는 AI가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AI에게 초안을 맡기면 누구나 쓸 수 있는 글이 나옵니다. 재료와 첫 문장은 내가 쓰고, AI는 질문하고 지적하고 다듬습니다.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72888" cy="2971800"/>
          </a:xfrm>
          <a:prstGeom prst="roundRect">
            <a:avLst>
              <a:gd name="adj" fmla="val 24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78728" y="2148840"/>
            <a:ext cx="5272888" cy="2971800"/>
          </a:xfrm>
          <a:prstGeom prst="roundRect">
            <a:avLst>
              <a:gd name="adj" fmla="val 246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3774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내가 쓰는 것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23774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돕는 것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80360"/>
            <a:ext cx="4724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경험의 사실 · 숫자 · 날짜</a:t>
            </a:r>
            <a:endParaRPr lang="en-US" sz="1300" dirty="0"/>
          </a:p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제약 아래에서 내가 내린 결정과 이유</a:t>
            </a:r>
            <a:endParaRPr lang="en-US" sz="1300" dirty="0"/>
          </a:p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그때의 감정과 배움 (한 문장이면 충분)</a:t>
            </a:r>
            <a:endParaRPr lang="en-US" sz="1300" dirty="0"/>
          </a:p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지원 동기의 '나만의 계기'</a:t>
            </a:r>
            <a:endParaRPr lang="en-US" sz="1300" dirty="0"/>
          </a:p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문장과 제출 책임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880360"/>
            <a:ext cx="4724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빈칸을 찾는 질문 (“그 결정의 대안은 무엇이었나요?”)</a:t>
            </a:r>
            <a:endParaRPr lang="en-US" sz="1300" dirty="0"/>
          </a:p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문항 요구와 내 초안의 구조 대조</a:t>
            </a:r>
            <a:endParaRPr lang="en-US" sz="1300" dirty="0"/>
          </a:p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글자 수 조정 · 중복 표현 · 문장 길이</a:t>
            </a:r>
            <a:endParaRPr lang="en-US" sz="1300" dirty="0"/>
          </a:p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채용 담당자 관점의 비판적 검토</a:t>
            </a:r>
            <a:endParaRPr lang="en-US" sz="1300" dirty="0"/>
          </a:p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예상 꼬리질문 생성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30352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53035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순서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경험 인벤토리(표) → 내가 첫 초안 300자 → AI 질문 5개에 답하며 보강 → 비판적 검토 → 내가 최종 수정.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먼저 쓰게 하지 않는 것이 핵심입니다.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 · 자기소개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30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표현 점검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티 나는 글의 징후와 고치는 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채용 담당자는 하루에 수백 장을 읽습니다. 아래 징후가 세 개 이상이면 내 글이 아니라고 판단됩니다.</a:t>
            </a:r>
            <a:endParaRPr lang="en-US" sz="1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087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1920240"/>
                <a:gridCol w="42336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징후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예시 문장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고치는 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고친 예시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추상 형용사 나열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“다양하고 폭넓은 경험을 통해 성장했습니다.”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사건 하나 + 숫자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“8주 캡스톤에서 실험 범위를 두 조건으로 줄여 4주 실제 운용을 만들었습니다.”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결정 없는 서술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“팀원들과 협력하여 문제를 해결했습니다.”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내가 고른 대안과 이유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“새 장치 대신 기존 증류기 조건만 먼저 검증하자고 제안했습니다. 예산이 30만원이었기 때문입니다.”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균형 잡힌 결론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“장단점을 모두 고려하여 최선의 선택을 했습니다.”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포기한 것을 밝힘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“자동 제어를 포기하고 회수율과 순도 측정에 집중했습니다.”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감정 없는 배움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“많은 것을 배울 수 있었던 값진 경험이었습니다.”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다음에 다르게 할 것 한 가지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“다음엔 순도 측정 방법을 첫 주에 정하겠습니다.”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문항과 무관한 서론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“4차 산업혁명 시대에 엔지니어의 역할은…”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첫 문장부터 내 장면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“실험실 폐용매의 60%가 위탁 처리로 버려지고 있었습니다.”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4068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440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요청문 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“내 자소서 초안에서 위 다섯 징후에 해당하는 문장을 인용하고, 고치기 위해 나에게 필요한 정보를 질문으로 물어줘. 대신 써 주지는 마.”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 · 자기소개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포트폴리오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포트폴리오 README 한 화면, 여섯 블록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채용 담당자는 README를 30초 봅니다. 코드보다 먼저, 이 여섯 블록이 위에서 아래로 보여야 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7607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5760720" cy="384048"/>
          </a:xfrm>
          <a:prstGeom prst="roundRect">
            <a:avLst>
              <a:gd name="adj" fmla="val 1904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5760720" cy="155448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231136"/>
            <a:ext cx="118872" cy="118872"/>
          </a:xfrm>
          <a:prstGeom prst="ellipse">
            <a:avLst/>
          </a:prstGeom>
          <a:solidFill>
            <a:srgbClr val="E06C6C"/>
          </a:solidFill>
          <a:ln w="12700">
            <a:solidFill>
              <a:srgbClr val="E06C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231136"/>
            <a:ext cx="118872" cy="118872"/>
          </a:xfrm>
          <a:prstGeom prst="ellipse">
            <a:avLst/>
          </a:prstGeom>
          <a:solidFill>
            <a:srgbClr val="E9B54A"/>
          </a:solidFill>
          <a:ln w="12700">
            <a:solidFill>
              <a:srgbClr val="E9B5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008" y="2231136"/>
            <a:ext cx="118872" cy="118872"/>
          </a:xfrm>
          <a:prstGeom prst="ellipse">
            <a:avLst/>
          </a:prstGeom>
          <a:solidFill>
            <a:srgbClr val="5FB77D"/>
          </a:solidFill>
          <a:ln w="12700">
            <a:solidFill>
              <a:srgbClr val="5FB7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21762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github.com/you/solvent-recovery  ·  README.md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65176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solvent-recovery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8895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실험실 폐용매 증류 회수 조건 최적화 · 4주 운용 회수율 72%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21868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문제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4564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아세톤 폐용매 주 20L 배출 · 기존 회수율 40% · 관찰 2주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7856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데모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023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[그래프 3장]  환류비 × 온도 → 회수율 · GC 순도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35254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내 역할 (4명 중)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5902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실험 설계(조건 3 × 3회) · GC 순도 측정 · 4주 운용 로그 분석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91947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기술 결정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1572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새 장치 제작 대신 기존 증류기 조건 최적화 — 예산 30만원 · 안전 규정 제약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48640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결과 · 한계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7241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회수율 40 → 72% · 순도 98%  /  혼합 용매는 미검증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210312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30초 안에 확인되는 다섯 가지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75120" y="2487168"/>
            <a:ext cx="329184" cy="329184"/>
          </a:xfrm>
          <a:prstGeom prst="ellipse">
            <a:avLst/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7416" y="2569464"/>
            <a:ext cx="164592" cy="16459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132320" y="2468880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첫 줄에 결론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7132320" y="2734056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 만들었고 결과가 무엇인지 한 줄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675120" y="3145536"/>
            <a:ext cx="329184" cy="329184"/>
          </a:xfrm>
          <a:prstGeom prst="ellipse">
            <a:avLst/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3227832"/>
            <a:ext cx="164592" cy="16459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132320" y="3127248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데모는 30초 안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7132320" y="3392424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GIF·짧은 영상·스크린샷 3장 중 하나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675120" y="3803904"/>
            <a:ext cx="329184" cy="329184"/>
          </a:xfrm>
          <a:prstGeom prst="ellipse">
            <a:avLst/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3886200"/>
            <a:ext cx="164592" cy="16459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7132320" y="3785616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역할은 분수로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7132320" y="4050792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'4명 중 나는 ○○' — 팀 기여와 분리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675120" y="4462272"/>
            <a:ext cx="329184" cy="329184"/>
          </a:xfrm>
          <a:prstGeom prst="ellipse">
            <a:avLst/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544568"/>
            <a:ext cx="164592" cy="164592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132320" y="4443984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결정에는 제약을</a:t>
            </a:r>
            <a:endParaRPr lang="en-US" sz="1250" dirty="0"/>
          </a:p>
        </p:txBody>
      </p:sp>
      <p:sp>
        <p:nvSpPr>
          <p:cNvPr id="40" name="Text 34"/>
          <p:cNvSpPr txBox="1"/>
          <p:nvPr/>
        </p:nvSpPr>
        <p:spPr>
          <a:xfrm>
            <a:off x="7132320" y="470916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왜 그 기술을 골랐는지 제약과 함께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675120" y="5120640"/>
            <a:ext cx="329184" cy="329184"/>
          </a:xfrm>
          <a:prstGeom prst="ellipse">
            <a:avLst/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5202936"/>
            <a:ext cx="164592" cy="164592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132320" y="5102352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한계를 숨기지 않기</a:t>
            </a:r>
            <a:endParaRPr lang="en-US" sz="1250" dirty="0"/>
          </a:p>
        </p:txBody>
      </p:sp>
      <p:sp>
        <p:nvSpPr>
          <p:cNvPr id="44" name="Text 37"/>
          <p:cNvSpPr txBox="1"/>
          <p:nvPr/>
        </p:nvSpPr>
        <p:spPr>
          <a:xfrm>
            <a:off x="7132320" y="5367528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미검증 조건을 적으면 신뢰가 오른다</a:t>
            </a:r>
            <a:endParaRPr lang="en-US" sz="1100" dirty="0"/>
          </a:p>
        </p:txBody>
      </p:sp>
      <p:sp>
        <p:nvSpPr>
          <p:cNvPr id="45" name="Text 38"/>
          <p:cNvSpPr txBox="1"/>
          <p:nvPr/>
        </p:nvSpPr>
        <p:spPr>
          <a:xfrm>
            <a:off x="6675120" y="576072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요청문: “프로젝트 폴더를 읽고 위 여섯 블록 README 초안을 써줘. '내 역할'과 '기술 결정'은 비워 두고 질문해줘.”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 · 자기소개</a:t>
            </a:r>
            <a:endParaRPr lang="en-US" sz="950" dirty="0"/>
          </a:p>
        </p:txBody>
      </p:sp>
      <p:sp>
        <p:nvSpPr>
          <p:cNvPr id="48" name="Text 41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32</a:t>
            </a:r>
            <a:endParaRPr lang="en-US" sz="950" dirty="0"/>
          </a:p>
        </p:txBody>
      </p:sp>
      <p:sp>
        <p:nvSpPr>
          <p:cNvPr id="49" name="Text 42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면접 준비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모의 면접 루프: 질문 → 답변 → 꼬리질문 → 피드백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면접관 역할을 지치지 않고 반복합니다. 단, 답변은 소리 내어 말하고 녹음해서 기록으로 남깁니다.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962851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41448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555748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148840"/>
            <a:ext cx="104845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자소서 · README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648651" y="2670048"/>
            <a:ext cx="18288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77251" y="2148840"/>
            <a:ext cx="1962851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78419" y="2441448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719" y="255574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4491" y="2148840"/>
            <a:ext cx="104845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질문 10개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885822" y="2670048"/>
            <a:ext cx="18288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114422" y="2148840"/>
            <a:ext cx="1962851" cy="1051560"/>
          </a:xfrm>
          <a:prstGeom prst="roundRect">
            <a:avLst>
              <a:gd name="adj" fmla="val 6957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15590" y="2441448"/>
            <a:ext cx="457200" cy="457200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890" y="255574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91662" y="2148840"/>
            <a:ext cx="104845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소리 내어 답변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122993" y="2670048"/>
            <a:ext cx="18288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351593" y="2148840"/>
            <a:ext cx="1962851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52761" y="2441448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061" y="255574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128833" y="2148840"/>
            <a:ext cx="104845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꼬리질문 3개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360164" y="2670048"/>
            <a:ext cx="18288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9588764" y="2148840"/>
            <a:ext cx="1962851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789932" y="2441448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4232" y="2555748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366004" y="2148840"/>
            <a:ext cx="104845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구조 · 근거 피드백</a:t>
            </a:r>
            <a:endParaRPr lang="en-US" sz="12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109087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3840480"/>
                <a:gridCol w="33192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질문 유형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면접관이 확인하려는 것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예시 질문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답변에 반드시 들어갈 것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경험 검증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자소서 내용이 사실인가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“회수율 72%는 어떻게 측정했나요?”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측정 방법 · 기간 · 원자료 위치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기술 깊이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왜 그 방법을 골랐는가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“새 장치 대신 기존 증류기 조건만 바꾼 이유는?”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제약 · 대안 · 트레이드오프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협업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본인 기여와 갈등 처리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“팀원이 반대했을 때 어떻게 설득했나요?”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구체 장면 · 내 행동 · 결과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실패·한계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한계를 인식하는가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“혼합 용매가 들어오면 어떻게 되나요?”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미검증 조건 인정 · 다음 계획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0" name="Text 22"/>
          <p:cNvSpPr txBox="1"/>
          <p:nvPr/>
        </p:nvSpPr>
        <p:spPr>
          <a:xfrm>
            <a:off x="640080" y="57150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요청문 (카드 C):  “자소서와 README를 읽고 위 네 유형별로 질문을 만들어 총 10개를 줘. 내가 답하면 답마다 꼬리질문 하나와 ‘구조·근거’ 두 기준의 피드백만 짧게 해줘.”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 · 자기소개</a:t>
            </a:r>
            <a:endParaRPr lang="en-US" sz="950" dirty="0"/>
          </a:p>
        </p:txBody>
      </p:sp>
      <p:sp>
        <p:nvSpPr>
          <p:cNvPr id="33" name="Text 25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33</a:t>
            </a:r>
            <a:endParaRPr lang="en-US" sz="950" dirty="0"/>
          </a:p>
        </p:txBody>
      </p:sp>
      <p:sp>
        <p:nvSpPr>
          <p:cNvPr id="34" name="Text 26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실습: Claude Code로 카드 A · B · C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9082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요청문 카드 A·B·C를 여러분의 폴더(my-career)에서 실행하고, 결과 파일과 '내가 확인한 것'을 남깁니다. 모델 Fable 5.1 · 노력 높음.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42C4F"/>
          </a:solidFill>
          <a:ln w="12700">
            <a:solidFill>
              <a:srgbClr val="142C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절에서 답할 질문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95604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만든 결과 중 무엇을 받아들이고, 무엇을 확인 필요로 남기고, 무엇을 내가 다시 쓸 것인가?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2639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· Claude Code 실습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34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준비 · 3분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폴더 하나, 규칙 파일 하나, Code 탭에서 열기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자료가 없어도 됩니다. 저장소의 practice_kit/my-career에 예시 공고·경험정리·보고서·자소서가 들어 있습니다. 자기 자료가 있으면 그것을 씁니다.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754880" cy="3246120"/>
          </a:xfrm>
          <a:prstGeom prst="roundRect">
            <a:avLst>
              <a:gd name="adj" fmla="val 225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폴더 구조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my-career/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44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C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CLAUDE.md         규칙: 확인 필요 · 출처 · 대신 쓰지 않기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924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01_jd/            채용공고 1~3개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398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02_experience/경험정리.md   경험 3개 × 5칸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03_drafts/        보고서·자소서·README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34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04_outputs/       AI 결과 (덮어쓰기 금지)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92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규칙은 CLAUDE.md에 적혀 있고, Claude Code가 세션마다 먼저 읽습니다. 원본은 읽기 전용, 결과는 04_outputs에만.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2103120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70448" y="228600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7044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212848"/>
            <a:ext cx="5013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Desktop 실행 → Code 탭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487168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왼쪽 상단에서 Code를 고르고 '폴더 열기'로 my-career를 선택합니다.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2926080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0448" y="310896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7044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035808"/>
            <a:ext cx="5013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새 세션: 모델 Fable 5.1 · 노력 높음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3310128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입력창 아래 모델 메뉴에서 고릅니다. 연 폴더만 Claude가 읽고 씁니다.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3749040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0448" y="393192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7044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3858768"/>
            <a:ext cx="5013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요청문 카드 A 붙여넣기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4133088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 파일 경로가 04_outputs/로 지정됐는지 확인 후 실행합니다. 파일 쓰기는 승인 후 진행됩니다.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0" y="4572000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70448" y="4754880"/>
            <a:ext cx="365760" cy="365760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70448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382512" y="4681728"/>
            <a:ext cx="5013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 파일 열기 → 확인 표지 붙이기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382512" y="4956048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표의 각 행에 확인 완료·확인 필요를 직접 표시합니다.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55321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주의 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연구실·인턴 회사의 비공개 자료, 타인의 개인정보가 든 파일은 폴더에 넣지 않습니다. 6절에서 다시 다룹니다.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· Claude Code 실습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35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A · 5분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직무 리서치: 채용공고 → 역량 매트릭스 → 첫 빈칸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카드 A를 그대로 실행하고, 결과 표에서 '가장 먼저 채울 빈칸 1개'를 이유와 함께 말할 수 있으면 완료입니다.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400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286000"/>
            <a:ext cx="5888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카드 A · Claude Code (my-career 프로젝트)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78608"/>
            <a:ext cx="58887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01_jd 폴더의 채용공고와 02_experience/경험정리.md를 읽고,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 요구 역량 × 회사 표 (필수 / 우대 / 언급 없음)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② 내 준비도 상·중·하 + 근거(경험정리.md의 항목)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③ 공고에 없는 역량은 추측하지 말고 '확인 필요'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결과는 04_outputs/역량매트릭스.md 로 저장하고, 표 아래에 '가장 먼저 채울 빈칸 1개'를 이유와 함께 써줘.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2103120"/>
            <a:ext cx="4236415" cy="3063240"/>
          </a:xfrm>
          <a:prstGeom prst="roundRect">
            <a:avLst>
              <a:gd name="adj" fmla="val 238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71232" y="2286000"/>
            <a:ext cx="3724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완료 기준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71232" y="265176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956" y="2729484"/>
            <a:ext cx="155448" cy="1554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01000" y="2633472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04_outputs/역량매트릭스.md 파일이 생성됨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571232" y="32552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956" y="3332988"/>
            <a:ext cx="155448" cy="1554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001000" y="3236976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표의 행마다 확인 완료 · 확인 필요를 내가 표시함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571232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956" y="3936492"/>
            <a:ext cx="155448" cy="1554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01000" y="3840480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'가장 먼저 채울 빈칸' 한 줄을 옆 사람에게 30초 설명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349240"/>
            <a:ext cx="5318608" cy="73152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534924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시간 배분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 1분 → 결과 읽기 2분 → 확인 표지 붙이기 1분 → 후속 요청 1회 1분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33008" y="5349240"/>
            <a:ext cx="5318608" cy="731520"/>
          </a:xfrm>
          <a:prstGeom prst="roundRect">
            <a:avLst>
              <a:gd name="adj" fmla="val 10000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61608" y="534924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막혔을 때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결과가 길면 “표만 남기고 각 행 한 줄로” · 근거가 약하면 “인용 못 하면 '중'으로 내려줘”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· Claude Code 실습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36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A · 실제 실행 화면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카드 A를 붙여 넣으면 일어나는 일: 읽기 → 쓰기 1회 → 요약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삼성전자 DS · LG에너지솔루션 · 한화에어로스페이스 공고 요약과 경험정리.md만 읽고(Read) 결과 파일 하나만 썼습니다(Write). 모르는 칸은 '확인 필요'로 남겼습니다.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" y="2066544"/>
            <a:ext cx="6976872" cy="3959352"/>
          </a:xfrm>
          <a:prstGeom prst="roundRect">
            <a:avLst>
              <a:gd name="adj" fmla="val 1386"/>
            </a:avLst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pic>
        <p:nvPicPr>
          <p:cNvPr id="6" name="Image 0" descr="/Users/sungjae-cha/Documents/research-agent/workspace/lecture_20260915/assets/practice_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03120"/>
            <a:ext cx="690372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2103120"/>
            <a:ext cx="3733495" cy="3886200"/>
          </a:xfrm>
          <a:prstGeom prst="roundRect">
            <a:avLst>
              <a:gd name="adj" fmla="val 19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267712"/>
            <a:ext cx="3276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실행에서 일어난 일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46720" y="2578608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256032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01_jd 공고 요약 3개 + 경험정리.md를 읽고 04_outputs/역량매트릭스.md 하나만 생성. 원본 폴더는 건드리지 않음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3236976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3218688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역량 13행 × 3사. 칸마다 공고의 어느 섹션에서 옮겼는지 표기. LG는 자격 요건 섹션이 없어 '필수(수행업무)'로 구분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46720" y="3895344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3877056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준비도 '상' 0개. 전공·학위·어학은 경험정리에 사실 자체가 없어 상·중·하 대신 '확인 필요'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46720" y="4553712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4535424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첫 빈칸: #8 빅데이터·머신러닝 데이터 분석 — 삼성 필수 + 한화 수행업무. 측정 로그 CSV와 Python이 이미 있음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46720" y="5303520"/>
            <a:ext cx="327629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0" y="5303520"/>
            <a:ext cx="3093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04_outputs/역량매트릭스.md · 7턴 · 3분 53초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" y="6126480"/>
            <a:ext cx="10911535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Code(Claude Desktop 번들 2.1.270) · Claude Fable 5.1 · 노력 높음 · 2026-09-15 실제 실행 기록(practice_runs/)을 세션 화면으로 렌더링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· Claude Code 실습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37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A · 후속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후속 요청 한 줄: '하'인 역량 하나 → 30일 계획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세션에서 '#8 데이터 분석을 골라 4주 계획을 다섯 열 표로 써줘'라고 이어 요청했습니다. 이전 대화의 표를 기억한 채 계획 파일을 하나 더 만듭니다.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" y="2066544"/>
            <a:ext cx="6976872" cy="3959352"/>
          </a:xfrm>
          <a:prstGeom prst="roundRect">
            <a:avLst>
              <a:gd name="adj" fmla="val 1386"/>
            </a:avLst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pic>
        <p:nvPicPr>
          <p:cNvPr id="6" name="Image 0" descr="/Users/sungjae-cha/Documents/research-agent/workspace/lecture_20260915/assets/practice_A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03120"/>
            <a:ext cx="690372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2103120"/>
            <a:ext cx="3733495" cy="3886200"/>
          </a:xfrm>
          <a:prstGeom prst="roundRect">
            <a:avLst>
              <a:gd name="adj" fmla="val 19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267712"/>
            <a:ext cx="3276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실행에서 일어난 일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46720" y="2578608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256032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후속 요청 한 줄로 04_outputs/30일계획_데이터분석.md 생성 (주차 · 목표 · 증거 · AI에게 맡길 것 · 내가 확인할 것)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3236976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3218688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1주차는 '데이터 복구': 경험정리(12%p · 3회)와 보고서(약 71% · 낮음 · 보통)의 숫자 불일치를 CSV 원본으로 먼저 푼다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46720" y="3895344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3877056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2~4주: 기술통계 → 회귀·공개 데이터셋 → 보고서 v2 · README · 자소서 claim별 증거 대조표. 자소서 문단은 본인이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46720" y="4553712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4535424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일정 주의를 스스로 표기: 한화 마감(9/20) 전엔 못 쓰는 증거, 4주 뒤 #8은 '하 → 중'까지만 (표본이 작아서)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46720" y="5303520"/>
            <a:ext cx="327629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0" y="5303520"/>
            <a:ext cx="3093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04_outputs/30일계획_데이터분석.md · 후속 · 2분 19초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" y="6126480"/>
            <a:ext cx="10911535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Code(Claude Desktop 번들 2.1.270) · Claude Fable 5.1 · 노력 높음 · 2026-09-15 실제 실행 기록(practice_runs/)을 세션 화면으로 렌더링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· Claude Code 실습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38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B · 5분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 문서: 내 보고서에 비판적 검토 받기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03_drafts의 보고서·과제 하나에 카드 B를 실행합니다. 지적 3개 중 받아들일 것과 반박할 것을 나누면 완료입니다.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400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286000"/>
            <a:ext cx="5888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카드 B · 비판적 검토 (Claude Code)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78608"/>
            <a:ext cx="58887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03_drafts/보고서.md를 처음 읽는 채용 담당 엔지니어 관점으로, 칭찬은 생략하고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 논리 비약 ② 근거 없는 숫자 ③ 용어 불일치 ④ 독자가 모를 전제 ⑤ 빠진 한계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기준으로 문제 문장을 원문 인용 + 이유 한 줄 + 고친 예시 한 줄로 정리해줘.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가장 심각한 3개를 먼저, 확신 없는 지적은 '확인 필요'로. 결과는 04_outputs/검토_보고서.md 에 저장.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2103120"/>
            <a:ext cx="4236415" cy="3063240"/>
          </a:xfrm>
          <a:prstGeom prst="roundRect">
            <a:avLst>
              <a:gd name="adj" fmla="val 238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71232" y="2286000"/>
            <a:ext cx="3724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완료 기준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71232" y="265176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956" y="2729484"/>
            <a:ext cx="155448" cy="1554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01000" y="2633472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04_outputs/검토_보고서.md 생성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571232" y="32552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956" y="3332988"/>
            <a:ext cx="155448" cy="1554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001000" y="3236976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지적 3개를 '수용 / 반박(근거) / 확인 필요'로 분류함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571232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956" y="3936492"/>
            <a:ext cx="155448" cy="1554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01000" y="3840480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수용한 지적 1개를 내 문장으로 직접 고침 (AI가 쓴 예시를 그대로 붙이지 않기)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349240"/>
            <a:ext cx="5318608" cy="73152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534924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시간 배분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 1분 → 지적 읽기 1.5분 → 분류 1.5분 → 문장 하나 직접 고치기 1분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33008" y="5349240"/>
            <a:ext cx="5318608" cy="731520"/>
          </a:xfrm>
          <a:prstGeom prst="roundRect">
            <a:avLst>
              <a:gd name="adj" fmla="val 10000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61608" y="534924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막혔을 때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문서가 없으면 배포한 예시 보고서 사용 · 지적이 뭉뚱그려지면 “문장 단위로 인용해줘”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· Claude Code 실습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39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B · 실제 실행 화면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카드 B의 결과: 가장 심각한 3개 + 나머지 14개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보고서만 읽지 않고 경험정리와 삼성전자 DS 직무소개까지 대조해 검토했습니다. 확신이 낮은 지적은 '확인 필요'로 구분했습니다.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" y="2066544"/>
            <a:ext cx="6976872" cy="3959352"/>
          </a:xfrm>
          <a:prstGeom prst="roundRect">
            <a:avLst>
              <a:gd name="adj" fmla="val 1386"/>
            </a:avLst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pic>
        <p:nvPicPr>
          <p:cNvPr id="6" name="Image 0" descr="/Users/sungjae-cha/Documents/research-agent/workspace/lecture_20260915/assets/practice_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03120"/>
            <a:ext cx="690372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2103120"/>
            <a:ext cx="3733495" cy="3886200"/>
          </a:xfrm>
          <a:prstGeom prst="roundRect">
            <a:avLst>
              <a:gd name="adj" fmla="val 19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267712"/>
            <a:ext cx="3276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실행에서 일어난 일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46720" y="2578608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256032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보고서 · 경험정리 · 삼성전자 DS 반도체공정기술 직무소개를 함께 읽고 04_outputs/검토_보고서.md 작성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3236976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3218688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가장 심각한 3개: 세 점으로 범위 밖 외삽 · 숫자 흔들림('약 70% 이상' vs '약 71%') · 검증 안 된 원인 단정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46720" y="3895344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3877056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나머지 16개는 다섯 기준별 표. 원문 인용 + 이유 한 줄 + 고친 예시 한 줄. 경험정리(개인)와 보고서(조원과 함께)가 충돌하는 부분은 '확인 필요'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46720" y="4553712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4535424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삼성전자 DS 직무소개가 요구하는 Python 통계 분석·수율 예측 역량이 보고서에 드러나지 않는다는 점을 별도 표로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46720" y="5303520"/>
            <a:ext cx="327629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0" y="5303520"/>
            <a:ext cx="3093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04_outputs/검토_보고서.md · 7턴 · 2분 06초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" y="6126480"/>
            <a:ext cx="10911535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Code(Claude Desktop 번들 2.1.270) · Claude Fable 5.1 · 노력 높음 · 2026-09-15 실제 실행 기록(practice_runs/)을 세션 화면으로 렌더링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· Claude Code 실습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40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B · 반박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학생이 근거로 반박하면: 지적이 '근거 없음'에서 '근거 미기재'로 바뀐다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'측정 로그에 3회 반복 · ±2%p · 대조군 59%가 있다'고 반박했습니다. AI는 지적을 철회하지도, 고집하지도 않고 성격을 다시 분류했습니다.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" y="2066544"/>
            <a:ext cx="6976872" cy="3959352"/>
          </a:xfrm>
          <a:prstGeom prst="roundRect">
            <a:avLst>
              <a:gd name="adj" fmla="val 1386"/>
            </a:avLst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pic>
        <p:nvPicPr>
          <p:cNvPr id="6" name="Image 0" descr="/Users/sungjae-cha/Documents/research-agent/workspace/lecture_20260915/assets/practice_B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03120"/>
            <a:ext cx="690372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2103120"/>
            <a:ext cx="3733495" cy="3886200"/>
          </a:xfrm>
          <a:prstGeom prst="roundRect">
            <a:avLst>
              <a:gd name="adj" fmla="val 19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267712"/>
            <a:ext cx="3276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실행에서 일어난 일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46720" y="2578608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256032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판단부터: '근거 없는 숫자' 분류는 철회하되 지적은 라벨을 바꿔 유지 — '근거가 보고서 안에 연결돼 있지 않다'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3236976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3218688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CSV로도 해소되지 않는 것 두 가지를 분리: '70% 이상' vs '71%' 문장 불일치, 70°C 값 부재. CSV는 못 봤으므로 표지 '요약만 확인'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46720" y="3895344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3877056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고쳐 쓰지 않고 근거 사슬 조건 8개만 제시 (값 하나로 · 반복 횟수 · ±2%p의 종류 · 대조군 이름과 값 · 원자료 위치 · 사실과 해석 분리)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46720" y="4553712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4535424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검토_보고서.md는 수정하지 않음. 원하면 _v2로 — 덮어쓰기 금지 규칙(CLAUDE.md)이 작동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46720" y="5303520"/>
            <a:ext cx="327629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0" y="5303520"/>
            <a:ext cx="3093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04_outputs/검토_보고서.md (미수정) · 후속 1턴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" y="6126480"/>
            <a:ext cx="10911535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Code(Claude Desktop 번들 2.1.270) · Claude Fable 5.1 · 노력 높음 · 2026-09-15 실제 실행 기록(practice_runs/)을 세션 화면으로 렌더링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· Claude Code 실습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41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C · 5분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면접: 예상 질문 10개와 꼬리질문 한 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카드 C를 실행하고, 질문 하나를 골라 소리 내어 60초 답한 뒤 꼬리질문을 받습니다. 답변 구조는 문제·제약·결정·결과·배움.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400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286000"/>
            <a:ext cx="5888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카드 C · 모의 면접 (Claude Code)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78608"/>
            <a:ext cx="58887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02_experience/경험정리.md와 03_drafts/자소서.md(또는 README)를 읽고,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경험 검증 · 기술 깊이 · 협업 · 실패·한계 네 유형으로 예상 질문 10개를 만들어줘.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내가 답하면 답마다 꼬리질문 하나와, '구조(문제·제약·결정·결과·배움)'와 '근거(숫자·출처)' 두 기준의 피드백만 짧게 해줘.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질문 목록은 04_outputs/면접질문.md 에 저장. 답변 대신 써 주지 마.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2103120"/>
            <a:ext cx="4236415" cy="3063240"/>
          </a:xfrm>
          <a:prstGeom prst="roundRect">
            <a:avLst>
              <a:gd name="adj" fmla="val 238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71232" y="2286000"/>
            <a:ext cx="3724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완료 기준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71232" y="265176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956" y="2729484"/>
            <a:ext cx="155448" cy="1554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01000" y="2633472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04_outputs/면접질문.md 생성 (유형별 2~3개)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571232" y="32552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956" y="3332988"/>
            <a:ext cx="155448" cy="1554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001000" y="3236976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질문 1개에 소리 내어 60초 답변 (녹음 권장)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571232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956" y="3936492"/>
            <a:ext cx="155448" cy="1554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01000" y="3840480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꼬리질문 1개에 답하고, 답변에서 빠진 칸(제약? 결과?)을 내가 적음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349240"/>
            <a:ext cx="5318608" cy="73152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534924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시간 배분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 1분 → 질문 고르기 0.5분 → 답변 1분 → 꼬리질문·피드백 1.5분 → 빠진 칸 기록 1분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33008" y="5349240"/>
            <a:ext cx="5318608" cy="731520"/>
          </a:xfrm>
          <a:prstGeom prst="roundRect">
            <a:avLst>
              <a:gd name="adj" fmla="val 10000"/>
            </a:avLst>
          </a:prstGeom>
          <a:solidFill>
            <a:srgbClr val="E6F1EB"/>
          </a:solidFill>
          <a:ln w="12700">
            <a:solidFill>
              <a:srgbClr val="E6F1E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61608" y="534924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453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막혔을 때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자소서가 없으면 경험정리.md만으로 실행 · 답이 막히면 “제약부터 다시 물어봐 줘”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· Claude Code 실습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42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C · 실제 실행 화면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카드 C의 결과: 네 유형 × 10개 질문, 질문마다 '출처 · 의도'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자소서의 빈 표현('여러 어려움', '최선의 선택')과 경험정리의 숫자 사이 틈을 질문으로 겨냥했습니다. 답변은 쓰지 않았습니다.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" y="2066544"/>
            <a:ext cx="6976872" cy="3959352"/>
          </a:xfrm>
          <a:prstGeom prst="roundRect">
            <a:avLst>
              <a:gd name="adj" fmla="val 1386"/>
            </a:avLst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pic>
        <p:nvPicPr>
          <p:cNvPr id="6" name="Image 0" descr="/Users/sungjae-cha/Documents/research-agent/workspace/lecture_20260915/assets/practice_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03120"/>
            <a:ext cx="690372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2103120"/>
            <a:ext cx="3733495" cy="3886200"/>
          </a:xfrm>
          <a:prstGeom prst="roundRect">
            <a:avLst>
              <a:gd name="adj" fmla="val 19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267712"/>
            <a:ext cx="3276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실행에서 일어난 일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46720" y="2578608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256032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경험정리 + 자소서를 읽고 04_outputs/면접질문.md 저장 — 경험 검증 3 · 기술 깊이 3 · 협업 2 · 실패·한계 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3236976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3218688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질문마다 '출처 · 의도' 열: 어느 문장을 파고드는 질문인지 학생이 미리 안다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46720" y="3895344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3877056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원문의 위험 신호를 표로: 자소서에 숫자가 하나도 없음 · 경험 3의 결과·배움 칸 비어 있음 · 경험 2의 '개인' vs '조원 3명' 충돌은 확인 필요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46720" y="4553712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4535424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예: '72%는 어떤 조건에서 몇 번 측정한 평균이고 편차는?' · 'GC 조건은?' — 숫자 하나마다 출처를 묻는 질문. 체크리스트 9개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46720" y="5303520"/>
            <a:ext cx="327629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0" y="5303520"/>
            <a:ext cx="3093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04_outputs/면접질문.md · 5턴 · 1분 17초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" y="6126480"/>
            <a:ext cx="10911535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Code(Claude Desktop 번들 2.1.270) · Claude Fable 5.1 · 노력 높음 · 2026-09-15 실제 실행 기록(practice_runs/)을 세션 화면으로 렌더링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· Claude Code 실습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43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C · 답변과 꼬리질문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60초 답변 → 꼬리질문 1개 + 구조·근거 피드백 두 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C1(협업) 질문에 소리 내어 답한 뒤 요약을 입력했습니다. 피드백은 요청문대로 '구조'와 '근거' 두 기준만, 짧게 돌아왔습니다.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" y="2066544"/>
            <a:ext cx="6976872" cy="3959352"/>
          </a:xfrm>
          <a:prstGeom prst="roundRect">
            <a:avLst>
              <a:gd name="adj" fmla="val 1386"/>
            </a:avLst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pic>
        <p:nvPicPr>
          <p:cNvPr id="6" name="Image 0" descr="/Users/sungjae-cha/Documents/research-agent/workspace/lecture_20260915/assets/practice_C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03120"/>
            <a:ext cx="690372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2103120"/>
            <a:ext cx="3733495" cy="3886200"/>
          </a:xfrm>
          <a:prstGeom prst="roundRect">
            <a:avLst>
              <a:gd name="adj" fmla="val 19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267712"/>
            <a:ext cx="3276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실행에서 일어난 일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46720" y="2578608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256032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꼬리질문: '장치 제작을 원한 두 명이 동의한 결정적 이유는? 72% 뒤 장치 제작은 실제로 했나?' — 건너뛴 구간과 지키지 않은 약속을 짚음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3236976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3218688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구조: 문제·제약·결정·결과는 순서대로 있으나 '반대 → 합의' 장면과 '배움' 칸이 빠짐. 협업 질문에 결과 답을 한 셈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46720" y="3895344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3877056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근거: 4명·8주·30만원·40→72%·20→6L는 모두 경험정리와 일치. '두 명이 장치 제작을 원했다'는 출처 없는 새 사실 → 확인 필요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46720" y="4553712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4535424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답변을 대신 써 주지 않음. 초기 계획서와 축소 후 계획서가 가장 강한 근거라고 출처만 제안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46720" y="5303520"/>
            <a:ext cx="327629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0" y="5303520"/>
            <a:ext cx="3093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답변 요약 입력  · 후속 1턴  ·  파일 생성 없음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" y="6126480"/>
            <a:ext cx="10911535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Code(Claude Desktop 번들 2.1.270) · Claude Fable 5.1 · 노력 높음 · 2026-09-15 실제 실행 기록(practice_runs/)을 세션 화면으로 렌더링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· Claude Code 실습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44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실습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남겨야 할 네 가지: 결과 · 근거 · 내 판단 · 기록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결과 파일보다 '내가 표시한 것'이 실습의 산출물입니다. 이 네 칸이 채워져야 다음 주에도 이어집니다.</a:t>
            </a:r>
            <a:endParaRPr lang="en-US" sz="15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9087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  <a:gridCol w="1965960"/>
                <a:gridCol w="1965960"/>
                <a:gridCol w="1737360"/>
                <a:gridCol w="112471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항목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확인 질문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실습 A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실습 B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실습 C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결과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결과 파일이 04_outputs에 있는가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역량매트릭스.md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검토_보고서.md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면접질문.md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파일 확인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AI가 쓴 근거를 원문과 대조했는가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 열 ↔ 경험정리.md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인용 문장 ↔ 내 보고서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질문 ↔ 자소서 문장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07A12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대조 완료 / 필요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 판단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받아들인 것과 반박한 것을 나눴는가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준비도 상·중·하 수정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수용 / 반박 / 확인 필요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빠진 칸 기록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7D5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내가 표시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다음에 다시 쓸 요청문을 남겼는가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후속 요청 1개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고친 문장 1개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녹음 또는 메모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6F78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파일로 저장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2578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2578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 주부터 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폴더에서 카드 A를 매주 한 번 다시 실행하면 준비도 열이 바뀝니다. 바뀌지 않는 행이 여러분이 이번 달 만들 증거입니다.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· Claude Code 실습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45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사람이 결정할 경계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9082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AI를 잘 쓰는 사람과 위험하게 쓰는 사람의 차이는 실력이 아니라 경계입니다.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42C4F"/>
          </a:solidFill>
          <a:ln w="12700">
            <a:solidFill>
              <a:srgbClr val="142C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절에서 답할 질문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95604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어떤 자료를 넣으면 안 되고, 어떤 결과는 반드시 내가 다시 써야 하는가?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2639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 · 사람이 결정할 경계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세 가지 경계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학교 규정 · 지원처 정책 · 비공개 자료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세 경계는 도구가 바뀌어도 그대로입니다. 모르면 사용 전에 확인하고, 확인 결과를 기록해 둡니다.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4298" cy="3246120"/>
          </a:xfrm>
          <a:prstGeom prst="roundRect">
            <a:avLst>
              <a:gd name="adj" fmla="val 225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3774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4917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2971800"/>
            <a:ext cx="2942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학교·수업의 AI 사용 규정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429000"/>
            <a:ext cx="29422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과목마다 허용 범위가 다릅니다. 실러버스와 과제 안내에 명시된 범위를 확인하고, 허용될 때도 어디에 어떻게 썼는지 밝힐 수 있게 기록합니다.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96112" y="4846320"/>
            <a:ext cx="294223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4128" y="4846320"/>
            <a:ext cx="26862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확인: 실러버스 · 담당 교수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68698" y="2148840"/>
            <a:ext cx="3454298" cy="3246120"/>
          </a:xfrm>
          <a:prstGeom prst="roundRect">
            <a:avLst>
              <a:gd name="adj" fmla="val 225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24730" y="23774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030" y="249174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24730" y="2971800"/>
            <a:ext cx="2942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지원 기업의 AI 작성 정책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4624730" y="3429000"/>
            <a:ext cx="29422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일부 기업은 지원서의 AI 사용을 제한하거나 고지를 요구합니다. 공고와 지원 안내를 읽고, 자소서의 사실·결정·문장은 내가 쓴다는 원칙을 지킵니다.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624730" y="4846320"/>
            <a:ext cx="294223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2746" y="4846320"/>
            <a:ext cx="26862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확인: 채용 공고 · 인사팀 문의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97317" y="2148840"/>
            <a:ext cx="3454298" cy="3246120"/>
          </a:xfrm>
          <a:prstGeom prst="roundRect">
            <a:avLst>
              <a:gd name="adj" fmla="val 225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53349" y="2377440"/>
            <a:ext cx="457200" cy="457200"/>
          </a:xfrm>
          <a:prstGeom prst="ellipse">
            <a:avLst/>
          </a:prstGeom>
          <a:solidFill>
            <a:srgbClr val="B94A48"/>
          </a:solidFill>
          <a:ln w="12700">
            <a:solidFill>
              <a:srgbClr val="B94A4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649" y="249174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53349" y="2971800"/>
            <a:ext cx="2942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비공개 자료와 개인정보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53349" y="3429000"/>
            <a:ext cx="29422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연구실 데이터, 인턴 회사 문서, 팀원의 개인정보는 폴더에 넣지 않습니다. 필요한 경우 식별 정보를 지운 요약본으로 대체하고 원본은 분리합니다.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353349" y="4846320"/>
            <a:ext cx="294223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481365" y="4846320"/>
            <a:ext cx="26862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94A4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확인: 지도교수 · 회사 보안 규정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규정과 정책은 기관·기업마다 다르고 자주 바뀝니다. 이 장표는 확인해야 할 항목이며, 최종 판단은 각 기관의 최신 안내를 따릅니다.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 · 사람이 결정할 경계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47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판단표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영향과 되돌리기 난이도에 따른 세 구역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틀렸을 때 나와 타인에게 미치는 영향이 크고 되돌리기 어려울수록, AI 결과를 그대로 쓰지 않고 사람이 결정합니다.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84778" cy="2834640"/>
          </a:xfrm>
          <a:prstGeom prst="roundRect">
            <a:avLst>
              <a:gd name="adj" fmla="val 2581"/>
            </a:avLst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3957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" y="2331720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F7D5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자유롭게 맡김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788920"/>
            <a:ext cx="297271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공개 자료 1쪽 정리</a:t>
            </a:r>
            <a:endParaRPr lang="en-US" sz="1250" dirty="0"/>
          </a:p>
          <a:p>
            <a:pPr algn="l"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메모·노트 구조화</a:t>
            </a:r>
            <a:endParaRPr lang="en-US" sz="1250" dirty="0"/>
          </a:p>
          <a:p>
            <a:pPr algn="l"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형식·글자 수·용어 정리</a:t>
            </a:r>
            <a:endParaRPr lang="en-US" sz="1250" dirty="0"/>
          </a:p>
          <a:p>
            <a:pPr algn="l"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예상 질문 생성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3458" y="2148840"/>
            <a:ext cx="3484778" cy="2834640"/>
          </a:xfrm>
          <a:prstGeom prst="roundRect">
            <a:avLst>
              <a:gd name="adj" fmla="val 2581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9490" y="23957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07A12"/>
          </a:solidFill>
          <a:ln w="12700">
            <a:solidFill>
              <a:srgbClr val="B07A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5522" y="2331720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07A1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확인 후 사용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09490" y="2788920"/>
            <a:ext cx="297271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보고서 비판적 검토</a:t>
            </a:r>
            <a:endParaRPr lang="en-US" sz="1250" dirty="0"/>
          </a:p>
          <a:p>
            <a:pPr algn="l"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역량 매트릭스 근거 열</a:t>
            </a:r>
            <a:endParaRPr lang="en-US" sz="1250" dirty="0"/>
          </a:p>
          <a:p>
            <a:pPr algn="l"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README·기획서 초안</a:t>
            </a:r>
            <a:endParaRPr lang="en-US" sz="1250" dirty="0"/>
          </a:p>
          <a:p>
            <a:pPr algn="l"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코드·계산 초안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66837" y="2148840"/>
            <a:ext cx="3484778" cy="2834640"/>
          </a:xfrm>
          <a:prstGeom prst="roundRect">
            <a:avLst>
              <a:gd name="adj" fmla="val 2581"/>
            </a:avLst>
          </a:prstGeom>
          <a:solidFill>
            <a:srgbClr val="F8E5E4"/>
          </a:solidFill>
          <a:ln w="12700">
            <a:solidFill>
              <a:srgbClr val="F8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2869" y="23957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94A48"/>
          </a:solidFill>
          <a:ln w="12700">
            <a:solidFill>
              <a:srgbClr val="B94A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78901" y="2331720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94A4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사람이 결정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2869" y="2788920"/>
            <a:ext cx="297271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자소서 최종 문장·제출</a:t>
            </a:r>
            <a:endParaRPr lang="en-US" sz="1250" dirty="0"/>
          </a:p>
          <a:p>
            <a:pPr algn="l"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연구실·회사 비공개 데이터</a:t>
            </a:r>
            <a:endParaRPr lang="en-US" sz="1250" dirty="0"/>
          </a:p>
          <a:p>
            <a:pPr algn="l"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타인 개인정보가 든 자료</a:t>
            </a:r>
            <a:endParaRPr lang="en-US" sz="1250" dirty="0"/>
          </a:p>
          <a:p>
            <a:pPr algn="l"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팀원 기여도 서술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영향 낮음 · 되돌리기 쉬움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894015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영향 큼 · 되돌리기 어려움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0" y="5212080"/>
            <a:ext cx="6705295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" y="544068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440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 전 세 질문 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 틀리면 누가 영향을 받는가   ② 되돌릴 수 있는가   ③ 내가 내용을 설명할 수 있는가 — 하나라도 '아니오'면 오른쪽 구역입니다.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 · 사람이 결정할 경계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48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30일 계획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작게 시작해서 매주 한 번 표를 갱신하기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 만든 폴더와 카드 세 장으로 충분합니다. 새 도구를 배우는 대신, 같은 요청을 매주 반복해 증거를 쌓습니다.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918297" y="2423160"/>
            <a:ext cx="8355101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3977" y="21488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3977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2556434" cy="1600200"/>
          </a:xfrm>
          <a:prstGeom prst="roundRect">
            <a:avLst>
              <a:gd name="adj" fmla="val 457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89697" y="30175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997" y="31318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7240" y="3566160"/>
            <a:ext cx="2282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공고 3개 · 매트릭스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959352"/>
            <a:ext cx="2282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카드 A 실행, 첫 빈칸 확정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29011" y="21488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29011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25114" y="2880360"/>
            <a:ext cx="2556434" cy="1600200"/>
          </a:xfrm>
          <a:prstGeom prst="roundRect">
            <a:avLst>
              <a:gd name="adj" fmla="val 457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74731" y="30175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031" y="313182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562274" y="3566160"/>
            <a:ext cx="2282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보고서 1편 재작성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3562274" y="3959352"/>
            <a:ext cx="2282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결론 먼저 구조 + 카드 B 검토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214045" y="21488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214045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3주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210148" y="2880360"/>
            <a:ext cx="2556434" cy="1600200"/>
          </a:xfrm>
          <a:prstGeom prst="roundRect">
            <a:avLst>
              <a:gd name="adj" fmla="val 457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59765" y="30175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065" y="313182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347308" y="3566160"/>
            <a:ext cx="2282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README 1개 공개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347308" y="3959352"/>
            <a:ext cx="2282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여섯 블록, 내 역할은 직접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9999078" y="2148840"/>
            <a:ext cx="548640" cy="548640"/>
          </a:xfrm>
          <a:prstGeom prst="ellipse">
            <a:avLst/>
          </a:prstGeom>
          <a:solidFill>
            <a:srgbClr val="1F6B52"/>
          </a:solidFill>
          <a:ln w="12700">
            <a:solidFill>
              <a:srgbClr val="1F6B52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99907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4주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995181" y="2880360"/>
            <a:ext cx="2556434" cy="1600200"/>
          </a:xfrm>
          <a:prstGeom prst="roundRect">
            <a:avLst>
              <a:gd name="adj" fmla="val 457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0044798" y="30175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098" y="313182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132341" y="3566160"/>
            <a:ext cx="2282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자소서 1문항 · 모의 면접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9132341" y="3959352"/>
            <a:ext cx="2282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인벤토리 → 초안 → 카드 C</a:t>
            </a:r>
            <a:endParaRPr lang="en-US" sz="11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09160"/>
          <a:ext cx="1090879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469087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매주 확인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질문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기록 위치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준비도 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지난주와 달라진 행이 있는가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04_outputs/역량매트릭스.md (주차별 복사본)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증거 파일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링크·숫자·문서로 남은 것이 하나 늘었는가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03_drafts/ 또는 GitHub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 판단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AI 지적 중 반박한 것이 있는가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57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04_outputs/검토_*.md 하단 메모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Shape 28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3E8E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마무리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49</a:t>
            </a:r>
            <a:endParaRPr lang="en-US" sz="950" dirty="0"/>
          </a:p>
        </p:txBody>
      </p:sp>
      <p:sp>
        <p:nvSpPr>
          <p:cNvPr id="38" name="Text 31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4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오늘의 한 문장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1091153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초안을,</a:t>
            </a:r>
            <a:endParaRPr lang="en-US" sz="4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내가 판단을,</a:t>
            </a:r>
            <a:endParaRPr lang="en-US" sz="4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근거가 결정을.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60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Humans steer · Agents execute · Evidence decides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3484778" cy="868680"/>
          </a:xfrm>
          <a:prstGeom prst="roundRect">
            <a:avLst>
              <a:gd name="adj" fmla="val 8421"/>
            </a:avLst>
          </a:prstGeom>
          <a:solidFill>
            <a:srgbClr val="142C4F"/>
          </a:solidFill>
          <a:ln w="12700">
            <a:solidFill>
              <a:srgbClr val="142C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846320"/>
            <a:ext cx="2972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5157216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 · 자료 · 형식 · 경계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3458" y="4754880"/>
            <a:ext cx="3484778" cy="868680"/>
          </a:xfrm>
          <a:prstGeom prst="roundRect">
            <a:avLst>
              <a:gd name="adj" fmla="val 8421"/>
            </a:avLst>
          </a:prstGeom>
          <a:solidFill>
            <a:srgbClr val="142C4F"/>
          </a:solidFill>
          <a:ln w="12700">
            <a:solidFill>
              <a:srgbClr val="142C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09490" y="4846320"/>
            <a:ext cx="2972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09490" y="5157216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확인 완료 · 요약만 · 확인 필요 · 제외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6837" y="4754880"/>
            <a:ext cx="3484778" cy="868680"/>
          </a:xfrm>
          <a:prstGeom prst="roundRect">
            <a:avLst>
              <a:gd name="adj" fmla="val 8421"/>
            </a:avLst>
          </a:prstGeom>
          <a:solidFill>
            <a:srgbClr val="142C4F"/>
          </a:solidFill>
          <a:ln w="12700">
            <a:solidFill>
              <a:srgbClr val="142C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2869" y="4846320"/>
            <a:ext cx="2972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책임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322869" y="5157216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문장과 제출은 내가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6B5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질의응답 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도구보다 '만들고 싶은 결과'에서 질문을 시작해 주세요. 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business.sjcha@gmail.com  ·  linkedin.com/in/smilechacha  ·  </a:t>
            </a:r>
            <a:pPr algn="l" indent="0" marL="0">
              <a:lnSpc>
                <a:spcPct val="115000"/>
              </a:lnSpc>
              <a:buNone/>
            </a:pPr>
            <a:r>
              <a:rPr lang="en-US" sz="1150" u="sng" dirty="0">
                <a:solidFill>
                  <a:srgbClr val="8FCBB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github.com/smilesjcha/research-agent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2639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마무리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002975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50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267048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B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PNU 공학커뮤니케이션 · 2026.09.15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AI와 함께 쓰는 공학 커뮤니케이션 — PNU 2026.09.15</dc:title>
  <dc:subject>PptxGenJS Presentation</dc:subject>
  <dc:creator>차성재</dc:creator>
  <cp:lastModifiedBy>차성재</cp:lastModifiedBy>
  <cp:revision>1</cp:revision>
  <dcterms:created xsi:type="dcterms:W3CDTF">2026-09-15T02:05:48Z</dcterms:created>
  <dcterms:modified xsi:type="dcterms:W3CDTF">2026-09-15T02:05:48Z</dcterms:modified>
</cp:coreProperties>
</file>